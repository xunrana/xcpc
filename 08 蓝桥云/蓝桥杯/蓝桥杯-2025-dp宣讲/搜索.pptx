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  <p:sldMasterId id="2147483661" r:id="rId2"/>
  </p:sldMasterIdLst>
  <p:notesMasterIdLst>
    <p:notesMasterId r:id="rId63"/>
  </p:notesMasterIdLst>
  <p:handoutMasterIdLst>
    <p:handoutMasterId r:id="rId64"/>
  </p:handoutMasterIdLst>
  <p:sldIdLst>
    <p:sldId id="822" r:id="rId3"/>
    <p:sldId id="823" r:id="rId4"/>
    <p:sldId id="824" r:id="rId5"/>
    <p:sldId id="826" r:id="rId6"/>
    <p:sldId id="828" r:id="rId7"/>
    <p:sldId id="829" r:id="rId8"/>
    <p:sldId id="830" r:id="rId9"/>
    <p:sldId id="831" r:id="rId10"/>
    <p:sldId id="832" r:id="rId11"/>
    <p:sldId id="825" r:id="rId12"/>
    <p:sldId id="833" r:id="rId13"/>
    <p:sldId id="834" r:id="rId14"/>
    <p:sldId id="838" r:id="rId15"/>
    <p:sldId id="837" r:id="rId16"/>
    <p:sldId id="839" r:id="rId17"/>
    <p:sldId id="840" r:id="rId18"/>
    <p:sldId id="841" r:id="rId19"/>
    <p:sldId id="842" r:id="rId20"/>
    <p:sldId id="843" r:id="rId21"/>
    <p:sldId id="844" r:id="rId22"/>
    <p:sldId id="845" r:id="rId23"/>
    <p:sldId id="846" r:id="rId24"/>
    <p:sldId id="847" r:id="rId25"/>
    <p:sldId id="848" r:id="rId26"/>
    <p:sldId id="849" r:id="rId27"/>
    <p:sldId id="850" r:id="rId28"/>
    <p:sldId id="851" r:id="rId29"/>
    <p:sldId id="836" r:id="rId30"/>
    <p:sldId id="835" r:id="rId31"/>
    <p:sldId id="852" r:id="rId32"/>
    <p:sldId id="853" r:id="rId33"/>
    <p:sldId id="854" r:id="rId34"/>
    <p:sldId id="855" r:id="rId35"/>
    <p:sldId id="856" r:id="rId36"/>
    <p:sldId id="857" r:id="rId37"/>
    <p:sldId id="858" r:id="rId38"/>
    <p:sldId id="827" r:id="rId39"/>
    <p:sldId id="859" r:id="rId40"/>
    <p:sldId id="860" r:id="rId41"/>
    <p:sldId id="861" r:id="rId42"/>
    <p:sldId id="862" r:id="rId43"/>
    <p:sldId id="863" r:id="rId44"/>
    <p:sldId id="864" r:id="rId45"/>
    <p:sldId id="865" r:id="rId46"/>
    <p:sldId id="866" r:id="rId47"/>
    <p:sldId id="867" r:id="rId48"/>
    <p:sldId id="868" r:id="rId49"/>
    <p:sldId id="869" r:id="rId50"/>
    <p:sldId id="870" r:id="rId51"/>
    <p:sldId id="871" r:id="rId52"/>
    <p:sldId id="872" r:id="rId53"/>
    <p:sldId id="873" r:id="rId54"/>
    <p:sldId id="874" r:id="rId55"/>
    <p:sldId id="875" r:id="rId56"/>
    <p:sldId id="876" r:id="rId57"/>
    <p:sldId id="877" r:id="rId58"/>
    <p:sldId id="878" r:id="rId59"/>
    <p:sldId id="879" r:id="rId60"/>
    <p:sldId id="880" r:id="rId61"/>
    <p:sldId id="881" r:id="rId62"/>
  </p:sldIdLst>
  <p:sldSz cx="12192000" cy="6858000"/>
  <p:notesSz cx="9928225" cy="67976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FrutigerNext LT Regular"/>
        <a:ea typeface="幼圆" panose="02010509060101010101" pitchFamily="49" charset="-122"/>
        <a:cs typeface="Times New Roman" panose="02020603050405020304" pitchFamily="18" charset="0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FrutigerNext LT Regular"/>
        <a:ea typeface="幼圆" panose="02010509060101010101" pitchFamily="49" charset="-122"/>
        <a:cs typeface="Times New Roman" panose="02020603050405020304" pitchFamily="18" charset="0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FrutigerNext LT Regular"/>
        <a:ea typeface="幼圆" panose="02010509060101010101" pitchFamily="49" charset="-122"/>
        <a:cs typeface="Times New Roman" panose="02020603050405020304" pitchFamily="18" charset="0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FrutigerNext LT Regular"/>
        <a:ea typeface="幼圆" panose="02010509060101010101" pitchFamily="49" charset="-122"/>
        <a:cs typeface="Times New Roman" panose="02020603050405020304" pitchFamily="18" charset="0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FrutigerNext LT Regular"/>
        <a:ea typeface="幼圆" panose="02010509060101010101" pitchFamily="49" charset="-122"/>
        <a:cs typeface="Times New Roman" panose="02020603050405020304" pitchFamily="18" charset="0"/>
      </a:defRPr>
    </a:lvl5pPr>
    <a:lvl6pPr marL="2286000" algn="l" defTabSz="914400" rtl="0" eaLnBrk="1" latinLnBrk="0" hangingPunct="1">
      <a:defRPr sz="2000" b="1" kern="1200">
        <a:solidFill>
          <a:schemeClr val="bg1"/>
        </a:solidFill>
        <a:latin typeface="FrutigerNext LT Regular"/>
        <a:ea typeface="幼圆" panose="02010509060101010101" pitchFamily="49" charset="-122"/>
        <a:cs typeface="Times New Roman" panose="02020603050405020304" pitchFamily="18" charset="0"/>
      </a:defRPr>
    </a:lvl6pPr>
    <a:lvl7pPr marL="2743200" algn="l" defTabSz="914400" rtl="0" eaLnBrk="1" latinLnBrk="0" hangingPunct="1">
      <a:defRPr sz="2000" b="1" kern="1200">
        <a:solidFill>
          <a:schemeClr val="bg1"/>
        </a:solidFill>
        <a:latin typeface="FrutigerNext LT Regular"/>
        <a:ea typeface="幼圆" panose="02010509060101010101" pitchFamily="49" charset="-122"/>
        <a:cs typeface="Times New Roman" panose="02020603050405020304" pitchFamily="18" charset="0"/>
      </a:defRPr>
    </a:lvl7pPr>
    <a:lvl8pPr marL="3200400" algn="l" defTabSz="914400" rtl="0" eaLnBrk="1" latinLnBrk="0" hangingPunct="1">
      <a:defRPr sz="2000" b="1" kern="1200">
        <a:solidFill>
          <a:schemeClr val="bg1"/>
        </a:solidFill>
        <a:latin typeface="FrutigerNext LT Regular"/>
        <a:ea typeface="幼圆" panose="02010509060101010101" pitchFamily="49" charset="-122"/>
        <a:cs typeface="Times New Roman" panose="02020603050405020304" pitchFamily="18" charset="0"/>
      </a:defRPr>
    </a:lvl8pPr>
    <a:lvl9pPr marL="3657600" algn="l" defTabSz="914400" rtl="0" eaLnBrk="1" latinLnBrk="0" hangingPunct="1">
      <a:defRPr sz="2000" b="1" kern="1200">
        <a:solidFill>
          <a:schemeClr val="bg1"/>
        </a:solidFill>
        <a:latin typeface="FrutigerNext LT Regular"/>
        <a:ea typeface="幼圆" panose="02010509060101010101" pitchFamily="49" charset="-122"/>
        <a:cs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7" userDrawn="1">
          <p15:clr>
            <a:srgbClr val="A4A3A4"/>
          </p15:clr>
        </p15:guide>
        <p15:guide id="2" pos="6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>
          <p15:clr>
            <a:srgbClr val="A4A3A4"/>
          </p15:clr>
        </p15:guide>
        <p15:guide id="2" pos="312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CCCC"/>
    <a:srgbClr val="3333FF"/>
    <a:srgbClr val="FFFF00"/>
    <a:srgbClr val="CC00CC"/>
    <a:srgbClr val="FF00FF"/>
    <a:srgbClr val="FF99CC"/>
    <a:srgbClr val="993366"/>
    <a:srgbClr val="FF0000"/>
    <a:srgbClr val="CC00FF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25" autoAdjust="0"/>
    <p:restoredTop sz="93850" autoAdjust="0"/>
  </p:normalViewPr>
  <p:slideViewPr>
    <p:cSldViewPr snapToObjects="1">
      <p:cViewPr varScale="1">
        <p:scale>
          <a:sx n="95" d="100"/>
          <a:sy n="95" d="100"/>
        </p:scale>
        <p:origin x="57" y="78"/>
      </p:cViewPr>
      <p:guideLst>
        <p:guide orient="horz" pos="717"/>
        <p:guide pos="633"/>
      </p:guideLst>
    </p:cSldViewPr>
  </p:slideViewPr>
  <p:outlineViewPr>
    <p:cViewPr>
      <p:scale>
        <a:sx n="33" d="100"/>
        <a:sy n="33" d="100"/>
      </p:scale>
      <p:origin x="0" y="10445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72" d="100"/>
          <a:sy n="72" d="100"/>
        </p:scale>
        <p:origin x="1464" y="60"/>
      </p:cViewPr>
      <p:guideLst>
        <p:guide orient="horz" pos="2141"/>
        <p:guide pos="3127"/>
      </p:guideLst>
    </p:cSldViewPr>
  </p:notesViewPr>
  <p:gridSpacing cx="152705" cy="1527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125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 b="0"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65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4513" y="0"/>
            <a:ext cx="4302125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 b="0"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fld id="{EE6993DC-483A-45AC-9156-0752343CED43}" type="datetimeFigureOut">
              <a:rPr lang="zh-CN" altLang="en-US"/>
              <a:t>2025/2/11</a:t>
            </a:fld>
            <a:endParaRPr lang="en-US" altLang="zh-CN"/>
          </a:p>
        </p:txBody>
      </p:sp>
      <p:sp>
        <p:nvSpPr>
          <p:cNvPr id="265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6363"/>
            <a:ext cx="4302125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 b="0"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5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4513" y="6456363"/>
            <a:ext cx="4302125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 b="0">
                <a:ea typeface="宋体" panose="02010600030101010101" pitchFamily="2" charset="-122"/>
              </a:defRPr>
            </a:lvl1pPr>
          </a:lstStyle>
          <a:p>
            <a:fld id="{D75B2E05-0253-43DA-BFE4-F260377C2325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125" cy="339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6100" y="0"/>
            <a:ext cx="4302125" cy="339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8750" y="509588"/>
            <a:ext cx="4532313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3975" y="3228975"/>
            <a:ext cx="7280275" cy="305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7950"/>
            <a:ext cx="4302125" cy="339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6100" y="6457950"/>
            <a:ext cx="4302125" cy="339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</a:lstStyle>
          <a:p>
            <a:fld id="{D7BAAFD8-8AF5-4807-BA38-874513E93B2C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b="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609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4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28C1D-ED0B-46A0-B654-5C42AE75CA98}" type="datetime1">
              <a:rPr lang="en-US" altLang="zh-CN" smtClean="0"/>
              <a:t>2/11/2025</a:t>
            </a:fld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5C97F9A-45AD-4498-B856-5AF780781397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54542" y="755185"/>
            <a:ext cx="12814300" cy="9572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72A0A0-4373-49D9-BA24-389BB7432E15}" type="datetime1">
              <a:rPr lang="en-US" altLang="zh-CN" smtClean="0"/>
              <a:t>2/11/2025</a:t>
            </a:fld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B7C6F6D-FFA8-468C-AF6A-CB4C27E2EEF8}" type="slidenum">
              <a:rPr lang="zh-CN" altLang="en-US" smtClean="0"/>
              <a:t>‹#›</a:t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48" y="18896"/>
            <a:ext cx="1289099" cy="966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2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CED250-6496-4FC0-83A4-45E3486A542A}" type="datetime1">
              <a:rPr lang="en-US" altLang="zh-CN" smtClean="0"/>
              <a:t>2/11/2025</a:t>
            </a:fld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C9360B5-64CB-46AB-9803-AA3C34914FFA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48" y="18896"/>
            <a:ext cx="1289099" cy="966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4418" y="1484313"/>
            <a:ext cx="5325533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53165" y="1484313"/>
            <a:ext cx="5327649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AD5490-7D55-471A-81B5-0774564F5794}" type="datetime1">
              <a:rPr lang="en-US" altLang="zh-CN" smtClean="0"/>
              <a:t>2/11/2025</a:t>
            </a:fld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D472664-DEE8-44BA-AEBC-3D1BBFC236F8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13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81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81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5E69C6-574A-4198-BB1C-82EEBF2E1801}" type="datetime1">
              <a:rPr lang="en-US" altLang="zh-CN" smtClean="0"/>
              <a:t>2/11/2025</a:t>
            </a:fld>
            <a:endParaRPr lang="zh-CN" altLang="en-U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F32095A-B3D4-4519-AA8C-1D2FCF3507E2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4CB864B-4EF4-4434-BB60-762C23849B52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48" y="18896"/>
            <a:ext cx="1289099" cy="966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17794D7-36C4-4E93-AE7A-0CAF6AF174FC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48" y="18896"/>
            <a:ext cx="1289099" cy="966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14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6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14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EE952D-61FE-44C1-96ED-14749303448E}" type="datetime1">
              <a:rPr lang="en-US" altLang="zh-CN" smtClean="0"/>
              <a:t>2/11/2025</a:t>
            </a:fld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8BF02F4-5381-4EAA-94F3-16972E022FEE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48" y="18896"/>
            <a:ext cx="1289099" cy="966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1FC57A-25E6-407B-AEED-71D456720CA2}" type="datetime1">
              <a:rPr lang="en-US" altLang="zh-CN" smtClean="0"/>
              <a:t>2/11/2025</a:t>
            </a:fld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C47EF18-B5BF-468C-8E72-DE6319A52F22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48" y="18896"/>
            <a:ext cx="1289099" cy="966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12192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2"/>
          <p:cNvSpPr>
            <a:spLocks noChangeArrowheads="1"/>
          </p:cNvSpPr>
          <p:nvPr userDrawn="1"/>
        </p:nvSpPr>
        <p:spPr bwMode="gray">
          <a:xfrm>
            <a:off x="0" y="2590800"/>
            <a:ext cx="12192000" cy="1066800"/>
          </a:xfrm>
          <a:prstGeom prst="rect">
            <a:avLst/>
          </a:prstGeom>
          <a:gradFill rotWithShape="1">
            <a:gsLst>
              <a:gs pos="14000">
                <a:srgbClr val="3191D3"/>
              </a:gs>
              <a:gs pos="94000">
                <a:srgbClr val="0099CC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" name="Line 26"/>
          <p:cNvSpPr>
            <a:spLocks noChangeShapeType="1"/>
          </p:cNvSpPr>
          <p:nvPr userDrawn="1"/>
        </p:nvSpPr>
        <p:spPr bwMode="auto">
          <a:xfrm>
            <a:off x="0" y="3657600"/>
            <a:ext cx="12192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" name="Line 27"/>
          <p:cNvSpPr>
            <a:spLocks noChangeShapeType="1"/>
          </p:cNvSpPr>
          <p:nvPr userDrawn="1"/>
        </p:nvSpPr>
        <p:spPr bwMode="auto">
          <a:xfrm>
            <a:off x="0" y="2590800"/>
            <a:ext cx="12192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" name="Rectangle 29"/>
          <p:cNvSpPr>
            <a:spLocks noChangeArrowheads="1"/>
          </p:cNvSpPr>
          <p:nvPr userDrawn="1"/>
        </p:nvSpPr>
        <p:spPr bwMode="gray">
          <a:xfrm>
            <a:off x="1" y="0"/>
            <a:ext cx="12189884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9000"/>
                </a:srgbClr>
              </a:gs>
              <a:gs pos="100000">
                <a:srgbClr val="81CFEB">
                  <a:gamma/>
                  <a:tint val="0"/>
                  <a:invGamma/>
                </a:srgbClr>
              </a:gs>
            </a:gsLst>
            <a:lin ang="540000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12192000" cy="11430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" name="Line 34"/>
          <p:cNvSpPr>
            <a:spLocks noChangeShapeType="1"/>
          </p:cNvSpPr>
          <p:nvPr userDrawn="1"/>
        </p:nvSpPr>
        <p:spPr bwMode="auto">
          <a:xfrm>
            <a:off x="0" y="2590800"/>
            <a:ext cx="12192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noFill/>
          <a:ln>
            <a:miter lim="800000"/>
          </a:ln>
        </p:spPr>
        <p:txBody>
          <a:bodyPr/>
          <a:lstStyle>
            <a:lvl1pPr>
              <a:defRPr/>
            </a:lvl1pPr>
          </a:lstStyle>
          <a:p>
            <a:fld id="{A824FA6D-2D6D-4047-9193-6333380C8E92}" type="datetime1">
              <a:rPr lang="en-US" altLang="zh-CN" smtClean="0"/>
              <a:t>2/11/2025</a:t>
            </a:fld>
            <a:endParaRPr lang="en-US" altLang="zh-CN"/>
          </a:p>
        </p:txBody>
      </p:sp>
      <p:sp>
        <p:nvSpPr>
          <p:cNvPr id="4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381001"/>
            <a:ext cx="89408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>
          <a:xfrm>
            <a:off x="508000" y="1066801"/>
            <a:ext cx="10972800" cy="54006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11480800" y="6553200"/>
            <a:ext cx="609600" cy="228600"/>
          </a:xfrm>
        </p:spPr>
        <p:txBody>
          <a:bodyPr/>
          <a:lstStyle>
            <a:lvl1pPr>
              <a:defRPr/>
            </a:lvl1pPr>
          </a:lstStyle>
          <a:p>
            <a:fld id="{B3C7F7FE-F591-4024-B354-EAC5CFD677D1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381001"/>
            <a:ext cx="8940800" cy="563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08000" y="1066801"/>
            <a:ext cx="10972800" cy="54006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01600" y="6553201"/>
            <a:ext cx="2844800" cy="244475"/>
          </a:xfrm>
        </p:spPr>
        <p:txBody>
          <a:bodyPr/>
          <a:lstStyle>
            <a:lvl1pPr>
              <a:defRPr/>
            </a:lvl1pPr>
          </a:lstStyle>
          <a:p>
            <a:fld id="{2332288E-54C1-4959-8B17-BE5786665258}" type="datetime1">
              <a:rPr lang="en-US" altLang="zh-CN" smtClean="0"/>
              <a:t>2/11/2025</a:t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11480800" y="6553200"/>
            <a:ext cx="609600" cy="228600"/>
          </a:xfrm>
        </p:spPr>
        <p:txBody>
          <a:bodyPr/>
          <a:lstStyle>
            <a:lvl1pPr>
              <a:defRPr/>
            </a:lvl1pPr>
          </a:lstStyle>
          <a:p>
            <a:fld id="{D19B6394-FEB0-405D-BB54-3675ABA41618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97E5A3-57E4-43F7-946A-5C66CF70BF06}" type="datetime1">
              <a:rPr lang="en-US" altLang="zh-CN" smtClean="0"/>
              <a:t>2/11/2025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97F9A-45AD-4498-B856-5AF780781397}" type="slidenum">
              <a:rPr lang="zh-CN" altLang="en-US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629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1B025C-90F1-4033-8D58-9A7D30B87B80}" type="datetime1">
              <a:rPr lang="en-US" altLang="zh-CN" smtClean="0"/>
              <a:t>2/11/2025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C6F6D-FFA8-468C-AF6A-CB4C27E2EEF8}" type="slidenum">
              <a:rPr lang="zh-CN" altLang="en-US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02113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CFEE73-20F7-474A-B173-6307B936A446}" type="datetime1">
              <a:rPr lang="en-US" altLang="zh-CN" smtClean="0"/>
              <a:t>2/11/2025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360B5-64CB-46AB-9803-AA3C34914FFA}" type="slidenum">
              <a:rPr lang="zh-CN" altLang="en-US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78927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44B93E-9018-43F3-8F45-02E6CCE6BD59}" type="datetime1">
              <a:rPr lang="en-US" altLang="zh-CN" smtClean="0"/>
              <a:t>2/11/2025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72664-DEE8-44BA-AEBC-3D1BBFC236F8}" type="slidenum">
              <a:rPr lang="zh-CN" altLang="en-US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2204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8030875-4EDC-49FE-8485-0A8E7292A3BE}" type="datetime1">
              <a:rPr lang="en-US" altLang="zh-CN" smtClean="0"/>
              <a:t>2/11/2025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2095A-B3D4-4519-AA8C-1D2FCF3507E2}" type="slidenum">
              <a:rPr lang="zh-CN" altLang="en-US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82089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7ECC3-19A3-4181-A332-9AEEBE1C7265}" type="datetime1">
              <a:rPr lang="en-US" altLang="zh-CN" smtClean="0"/>
              <a:t>2/11/2025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B864B-4EF4-4434-BB60-762C23849B52}" type="slidenum">
              <a:rPr lang="zh-CN" altLang="en-US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02659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5073A-8F40-4D0C-A35F-C94788AEE746}" type="datetime1">
              <a:rPr lang="en-US" altLang="zh-CN" smtClean="0"/>
              <a:t>2/11/2025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97395" y="6331565"/>
            <a:ext cx="2743200" cy="365125"/>
          </a:xfrm>
        </p:spPr>
        <p:txBody>
          <a:bodyPr/>
          <a:lstStyle>
            <a:lvl1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217794D7-36C4-4E93-AE7A-0CAF6AF174FC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36359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2A4D5A-E928-4439-A3EE-2D2F07FF6B2B}" type="datetime1">
              <a:rPr lang="en-US" altLang="zh-CN" smtClean="0"/>
              <a:t>2/11/2025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F02F4-5381-4EAA-94F3-16972E022FEE}" type="slidenum">
              <a:rPr lang="zh-CN" altLang="en-US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41548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6C22A9A-31D9-4B6A-AF9C-57334A67958E}" type="datetime1">
              <a:rPr lang="en-US" altLang="zh-CN" smtClean="0"/>
              <a:t>2/11/2025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7EF18-B5BF-468C-8E72-DE6319A52F22}" type="slidenum">
              <a:rPr lang="zh-CN" altLang="en-US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63942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9B1ED25-F041-4272-ACD5-16F44E2DA613}" type="datetime1">
              <a:rPr lang="en-US" altLang="zh-CN" smtClean="0"/>
              <a:t>2/11/2025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99495-4C70-4DA1-B4FD-AE3C2F6741A9}" type="slidenum">
              <a:rPr lang="zh-CN" altLang="en-US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19875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B3FB983-6C20-4E69-A150-2562B2F4CD5F}" type="datetime1">
              <a:rPr lang="en-US" altLang="zh-CN" smtClean="0"/>
              <a:t>2/11/2025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99495-4C70-4DA1-B4FD-AE3C2F6741A9}" type="slidenum">
              <a:rPr lang="zh-CN" altLang="en-US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23051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12192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2"/>
          <p:cNvSpPr>
            <a:spLocks noChangeArrowheads="1"/>
          </p:cNvSpPr>
          <p:nvPr userDrawn="1"/>
        </p:nvSpPr>
        <p:spPr bwMode="gray">
          <a:xfrm>
            <a:off x="0" y="2590800"/>
            <a:ext cx="12192000" cy="1066800"/>
          </a:xfrm>
          <a:prstGeom prst="rect">
            <a:avLst/>
          </a:prstGeom>
          <a:gradFill rotWithShape="1">
            <a:gsLst>
              <a:gs pos="14000">
                <a:srgbClr val="3191D3"/>
              </a:gs>
              <a:gs pos="94000">
                <a:srgbClr val="0099CC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" name="Line 26"/>
          <p:cNvSpPr>
            <a:spLocks noChangeShapeType="1"/>
          </p:cNvSpPr>
          <p:nvPr userDrawn="1"/>
        </p:nvSpPr>
        <p:spPr bwMode="auto">
          <a:xfrm>
            <a:off x="0" y="3657600"/>
            <a:ext cx="12192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" name="Line 27"/>
          <p:cNvSpPr>
            <a:spLocks noChangeShapeType="1"/>
          </p:cNvSpPr>
          <p:nvPr userDrawn="1"/>
        </p:nvSpPr>
        <p:spPr bwMode="auto">
          <a:xfrm>
            <a:off x="0" y="2590800"/>
            <a:ext cx="12192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" name="Rectangle 29"/>
          <p:cNvSpPr>
            <a:spLocks noChangeArrowheads="1"/>
          </p:cNvSpPr>
          <p:nvPr userDrawn="1"/>
        </p:nvSpPr>
        <p:spPr bwMode="gray">
          <a:xfrm>
            <a:off x="1" y="0"/>
            <a:ext cx="12189884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9000"/>
                </a:srgbClr>
              </a:gs>
              <a:gs pos="100000">
                <a:srgbClr val="81CFEB">
                  <a:gamma/>
                  <a:tint val="0"/>
                  <a:invGamma/>
                </a:srgbClr>
              </a:gs>
            </a:gsLst>
            <a:lin ang="540000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12192000" cy="11430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" name="Line 34"/>
          <p:cNvSpPr>
            <a:spLocks noChangeShapeType="1"/>
          </p:cNvSpPr>
          <p:nvPr userDrawn="1"/>
        </p:nvSpPr>
        <p:spPr bwMode="auto">
          <a:xfrm>
            <a:off x="0" y="2590800"/>
            <a:ext cx="12192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noFill/>
          <a:ln>
            <a:miter lim="800000"/>
          </a:ln>
        </p:spPr>
        <p:txBody>
          <a:bodyPr/>
          <a:lstStyle>
            <a:lvl1pPr>
              <a:defRPr/>
            </a:lvl1pPr>
          </a:lstStyle>
          <a:p>
            <a:fld id="{8F830E65-EA6A-4199-9A29-CF6CA8B1E26B}" type="datetime1">
              <a:rPr lang="en-US" altLang="zh-CN" smtClean="0"/>
              <a:t>2/11/2025</a:t>
            </a:fld>
            <a:endParaRPr lang="en-US" altLang="zh-CN"/>
          </a:p>
        </p:txBody>
      </p:sp>
      <p:sp>
        <p:nvSpPr>
          <p:cNvPr id="4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2194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920000" y="179883"/>
            <a:ext cx="9484597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72000" tIns="72000" rIns="72000" bIns="72000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zh-CN" altLang="en-US" sz="3600" b="1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lvl="0" algn="l"/>
            <a:r>
              <a:rPr lang="zh-CN" altLang="en-US" dirty="0"/>
              <a:t>单击此处编辑母版标题样式</a:t>
            </a:r>
          </a:p>
        </p:txBody>
      </p:sp>
      <p:cxnSp>
        <p:nvCxnSpPr>
          <p:cNvPr id="13" name="直接连接符 12"/>
          <p:cNvCxnSpPr/>
          <p:nvPr userDrawn="1"/>
        </p:nvCxnSpPr>
        <p:spPr bwMode="auto">
          <a:xfrm>
            <a:off x="1920000" y="792126"/>
            <a:ext cx="9288000" cy="0"/>
          </a:xfrm>
          <a:prstGeom prst="line">
            <a:avLst/>
          </a:prstGeom>
          <a:solidFill>
            <a:srgbClr val="EAEAEA"/>
          </a:solidFill>
          <a:ln w="31750" cap="flat" cmpd="sng" algn="ctr">
            <a:solidFill>
              <a:srgbClr val="3078B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</p:spPr>
      </p:cxnSp>
      <p:sp>
        <p:nvSpPr>
          <p:cNvPr id="4" name="矩形 3"/>
          <p:cNvSpPr/>
          <p:nvPr userDrawn="1"/>
        </p:nvSpPr>
        <p:spPr>
          <a:xfrm>
            <a:off x="1200" y="743215"/>
            <a:ext cx="1908000" cy="108000"/>
          </a:xfrm>
          <a:prstGeom prst="rect">
            <a:avLst/>
          </a:prstGeom>
          <a:solidFill>
            <a:srgbClr val="3078B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870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" y="47626"/>
            <a:ext cx="12814300" cy="9572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523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4418" y="1484313"/>
            <a:ext cx="10856383" cy="43926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8842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4917" y="6284913"/>
            <a:ext cx="172508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b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fld id="{1596D3C0-2AFD-48F1-A71C-B351F7B1D7FD}" type="datetime1">
              <a:rPr lang="en-US" altLang="zh-CN" smtClean="0"/>
              <a:t>2/11/2025</a:t>
            </a:fld>
            <a:endParaRPr lang="zh-CN" altLang="en-US"/>
          </a:p>
        </p:txBody>
      </p:sp>
      <p:sp>
        <p:nvSpPr>
          <p:cNvPr id="18842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668000" y="6215063"/>
            <a:ext cx="1244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6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8AF99495-4C70-4DA1-B4FD-AE3C2F6741A9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188418" name="Rectangle 2"/>
          <p:cNvSpPr>
            <a:spLocks noChangeArrowheads="1"/>
          </p:cNvSpPr>
          <p:nvPr/>
        </p:nvSpPr>
        <p:spPr bwMode="auto">
          <a:xfrm>
            <a:off x="0" y="985838"/>
            <a:ext cx="2844800" cy="101600"/>
          </a:xfrm>
          <a:prstGeom prst="rect">
            <a:avLst/>
          </a:prstGeom>
          <a:solidFill>
            <a:srgbClr val="006699"/>
          </a:solidFill>
          <a:ln w="9525">
            <a:noFill/>
            <a:miter lim="800000"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zh-CN" sz="18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8419" name="Rectangle 3"/>
          <p:cNvSpPr>
            <a:spLocks noChangeArrowheads="1"/>
          </p:cNvSpPr>
          <p:nvPr/>
        </p:nvSpPr>
        <p:spPr bwMode="auto">
          <a:xfrm>
            <a:off x="1930400" y="985838"/>
            <a:ext cx="9652000" cy="101600"/>
          </a:xfrm>
          <a:prstGeom prst="rect">
            <a:avLst/>
          </a:prstGeom>
          <a:gradFill rotWithShape="1">
            <a:gsLst>
              <a:gs pos="0">
                <a:srgbClr val="006699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zh-CN" sz="18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842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902200" y="4803775"/>
            <a:ext cx="7010400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8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62" name="Rectangle 18"/>
          <p:cNvSpPr>
            <a:spLocks noChangeArrowheads="1"/>
          </p:cNvSpPr>
          <p:nvPr userDrawn="1"/>
        </p:nvSpPr>
        <p:spPr bwMode="auto">
          <a:xfrm>
            <a:off x="190501" y="6437313"/>
            <a:ext cx="12001500" cy="30480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bg1"/>
                </a:solidFill>
                <a:latin typeface="FrutigerNext LT Regular"/>
                <a:ea typeface="幼圆" panose="020105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FrutigerNext LT Regular"/>
                <a:ea typeface="幼圆" panose="020105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FrutigerNext LT Regular"/>
                <a:ea typeface="幼圆" panose="020105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FrutigerNext LT Regular"/>
                <a:ea typeface="幼圆" panose="020105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FrutigerNext LT Regular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FrutigerNext LT Regular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FrutigerNext LT Regular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FrutigerNext LT Regular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FrutigerNext LT Regular"/>
                <a:ea typeface="幼圆" panose="02010509060101010101" pitchFamily="49" charset="-122"/>
              </a:defRPr>
            </a:lvl9pPr>
          </a:lstStyle>
          <a:p>
            <a:pPr eaLnBrk="1" hangingPunct="1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400">
                <a:solidFill>
                  <a:srgbClr val="FFCC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                                                              </a:t>
            </a:r>
            <a:fld id="{B50DA601-DC5A-4609-98FF-92E0F4CCEA4B}" type="slidenum">
              <a:rPr lang="zh-CN" altLang="en-US" sz="1400">
                <a:solidFill>
                  <a:srgbClr val="FFCC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‹#›</a:t>
            </a:fld>
            <a:endParaRPr lang="en-US" altLang="zh-CN" sz="1400">
              <a:solidFill>
                <a:srgbClr val="FFCC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0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0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0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0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0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50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50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50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50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447675" indent="-447675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3200" b="1">
          <a:solidFill>
            <a:srgbClr val="0066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889000" indent="-440055" algn="l" rtl="0" eaLnBrk="0" fontAlgn="base" hangingPunct="0">
        <a:spcBef>
          <a:spcPct val="20000"/>
        </a:spcBef>
        <a:spcAft>
          <a:spcPct val="0"/>
        </a:spcAft>
        <a:buClr>
          <a:srgbClr val="669900"/>
        </a:buClr>
        <a:buFont typeface="楷体_GB2312" panose="02010609030101010101" pitchFamily="49" charset="-122"/>
        <a:buChar char="o"/>
        <a:defRPr sz="28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华文细黑" panose="02010600040101010101" pitchFamily="2" charset="-122"/>
        </a:defRPr>
      </a:lvl2pPr>
      <a:lvl3pPr marL="1294130" indent="-403225" algn="l" rtl="0" eaLnBrk="0" fontAlgn="base" hangingPunct="0">
        <a:spcBef>
          <a:spcPct val="20000"/>
        </a:spcBef>
        <a:spcAft>
          <a:spcPct val="0"/>
        </a:spcAft>
        <a:buClr>
          <a:srgbClr val="0099CC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81480" indent="-38608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¡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70100" indent="-387350" algn="l" rtl="0" eaLnBrk="0" fontAlgn="base" hangingPunct="0">
        <a:spcBef>
          <a:spcPct val="20000"/>
        </a:spcBef>
        <a:spcAft>
          <a:spcPct val="0"/>
        </a:spcAft>
        <a:buClr>
          <a:srgbClr val="0099CC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27300" indent="-387350" algn="l" rtl="0" fontAlgn="base">
        <a:spcBef>
          <a:spcPct val="20000"/>
        </a:spcBef>
        <a:spcAft>
          <a:spcPct val="0"/>
        </a:spcAft>
        <a:buClr>
          <a:srgbClr val="0099CC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84500" indent="-387350" algn="l" rtl="0" fontAlgn="base">
        <a:spcBef>
          <a:spcPct val="20000"/>
        </a:spcBef>
        <a:spcAft>
          <a:spcPct val="0"/>
        </a:spcAft>
        <a:buClr>
          <a:srgbClr val="0099CC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41700" indent="-387350" algn="l" rtl="0" fontAlgn="base">
        <a:spcBef>
          <a:spcPct val="20000"/>
        </a:spcBef>
        <a:spcAft>
          <a:spcPct val="0"/>
        </a:spcAft>
        <a:buClr>
          <a:srgbClr val="0099CC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98900" indent="-387350" algn="l" rtl="0" fontAlgn="base">
        <a:spcBef>
          <a:spcPct val="20000"/>
        </a:spcBef>
        <a:spcAft>
          <a:spcPct val="0"/>
        </a:spcAft>
        <a:buClr>
          <a:srgbClr val="0099CC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FFB242F-4ABF-4555-8697-315988818C94}" type="datetime1">
              <a:rPr lang="en-US" altLang="zh-CN" smtClean="0"/>
              <a:t>2/11/2025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F99495-4C70-4DA1-B4FD-AE3C2F6741A9}" type="slidenum">
              <a:rPr lang="zh-CN" altLang="en-US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7245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4.xml"/><Relationship Id="rId4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7.xml"/><Relationship Id="rId4" Type="http://schemas.openxmlformats.org/officeDocument/2006/relationships/image" Target="../media/image1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8.xml"/><Relationship Id="rId4" Type="http://schemas.openxmlformats.org/officeDocument/2006/relationships/image" Target="../media/image14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5"/>
          <p:cNvSpPr>
            <a:spLocks noChangeArrowheads="1"/>
          </p:cNvSpPr>
          <p:nvPr/>
        </p:nvSpPr>
        <p:spPr bwMode="white">
          <a:xfrm>
            <a:off x="140505" y="2465030"/>
            <a:ext cx="1191099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algn="ctr"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algn="ctr"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algn="ctr"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algn="ctr"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r>
              <a:rPr lang="zh-CN" altLang="en-US" sz="5400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搜索（</a:t>
            </a:r>
            <a:r>
              <a:rPr lang="en-US" altLang="zh-CN" sz="5400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DFS VS.</a:t>
            </a:r>
            <a:r>
              <a:rPr lang="zh-CN" altLang="en-US" sz="5400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5400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BFS</a:t>
            </a:r>
            <a:r>
              <a:rPr lang="zh-CN" altLang="en-US" sz="5400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en-US" altLang="zh-CN" sz="5400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FFFF00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8006178"/>
      </p:ext>
    </p:extLst>
  </p:cSld>
  <p:clrMapOvr>
    <a:masterClrMapping/>
  </p:clrMapOvr>
  <p:transition spd="med" advTm="5355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2"/>
          <p:cNvSpPr txBox="1">
            <a:spLocks noChangeArrowheads="1"/>
          </p:cNvSpPr>
          <p:nvPr/>
        </p:nvSpPr>
        <p:spPr>
          <a:xfrm>
            <a:off x="681165" y="401863"/>
            <a:ext cx="6941885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sz="40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搜索的重要性</a:t>
            </a:r>
            <a:endParaRPr lang="zh-CN" altLang="en-US" sz="40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DCBB3D8-AE1A-4351-BDEB-2B350E4B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2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EAF4A88-1FFA-45E9-B118-25E5F215F1C3}"/>
              </a:ext>
            </a:extLst>
          </p:cNvPr>
          <p:cNvSpPr/>
          <p:nvPr/>
        </p:nvSpPr>
        <p:spPr>
          <a:xfrm>
            <a:off x="1000140" y="2054655"/>
            <a:ext cx="991561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搜索的主要技术是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DFS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BFS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，是所有算法竞赛中必考的知识点。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“学通了搜索，在蓝桥杯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省赛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上能得二等奖。”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算法竞赛有初级、中级、高级三个学习阶段。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初级阶段：以搜索（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DFS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BFS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）为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标志性知识点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0991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599"/>
    </mc:Choice>
    <mc:Fallback xmlns="">
      <p:transition spd="slow" advTm="5659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904831" y="2360065"/>
          <a:ext cx="9925024" cy="2274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529">
                  <a:extLst>
                    <a:ext uri="{9D8B030D-6E8A-4147-A177-3AD203B41FA5}">
                      <a16:colId xmlns:a16="http://schemas.microsoft.com/office/drawing/2014/main" val="3576522418"/>
                    </a:ext>
                  </a:extLst>
                </a:gridCol>
                <a:gridCol w="8509495">
                  <a:extLst>
                    <a:ext uri="{9D8B030D-6E8A-4147-A177-3AD203B41FA5}">
                      <a16:colId xmlns:a16="http://schemas.microsoft.com/office/drawing/2014/main" val="4133041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400" b="1" u="none" kern="2200" spc="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难度</a:t>
                      </a:r>
                      <a:endParaRPr lang="zh-CN" altLang="en-US" sz="2400" b="1" u="none" kern="2200" dirty="0">
                        <a:solidFill>
                          <a:srgbClr val="0070C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400" b="1" u="none" kern="2200" spc="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知识点</a:t>
                      </a:r>
                      <a:endParaRPr lang="zh-CN" altLang="en-US" sz="2400" b="1" u="none" kern="2200" dirty="0">
                        <a:solidFill>
                          <a:srgbClr val="0070C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919353"/>
                  </a:ext>
                </a:extLst>
              </a:tr>
              <a:tr h="1487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u="none" kern="2200" spc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初级</a:t>
                      </a:r>
                      <a:endParaRPr lang="zh-CN" altLang="en-US" sz="2400" b="1" u="none" kern="2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342900" marR="0" indent="-34290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400" b="1" u="none" kern="2200" spc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搜索：</a:t>
                      </a:r>
                      <a:r>
                        <a:rPr lang="en-US" altLang="zh-CN" sz="2400" b="1" u="none" kern="2200" spc="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BFS</a:t>
                      </a:r>
                      <a:r>
                        <a:rPr lang="zh-CN" altLang="en-US" sz="2400" b="1" u="none" kern="2200" spc="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2400" b="1" u="none" kern="2200" spc="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DFS</a:t>
                      </a:r>
                      <a:r>
                        <a:rPr lang="en-US" altLang="zh-CN" sz="2400" b="1" u="none" kern="2200" spc="0" baseline="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</a:t>
                      </a:r>
                      <a:r>
                        <a:rPr lang="en-US" altLang="zh-CN" sz="2400" b="1" u="none" kern="2200" spc="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[1-5]</a:t>
                      </a:r>
                    </a:p>
                  </a:txBody>
                  <a:tcPr marL="68580" marR="68580"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98951"/>
                  </a:ext>
                </a:extLst>
              </a:tr>
              <a:tr h="4913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u="none" kern="2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中级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342900" marR="0" indent="-34290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400" b="1" u="none" kern="2200" spc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搜索：</a:t>
                      </a:r>
                      <a:r>
                        <a:rPr lang="zh-CN" altLang="en-US" sz="2400" b="1" u="none" kern="2200" spc="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剪枝</a:t>
                      </a:r>
                      <a:r>
                        <a:rPr lang="en-US" altLang="zh-CN" sz="2400" b="1" u="none" kern="2200" spc="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[4-6]</a:t>
                      </a:r>
                      <a:r>
                        <a:rPr lang="zh-CN" altLang="en-US" sz="2400" b="1" u="none" kern="2200" spc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、双向</a:t>
                      </a:r>
                      <a:r>
                        <a:rPr lang="en-US" altLang="zh-CN" sz="2400" b="1" u="none" kern="2200" spc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BFS[5-6]</a:t>
                      </a:r>
                      <a:r>
                        <a:rPr lang="zh-CN" altLang="en-US" sz="2400" b="1" u="none" kern="2200" spc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2400" b="1" u="none" kern="2200" spc="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记忆化搜索</a:t>
                      </a:r>
                      <a:r>
                        <a:rPr lang="en-US" altLang="zh-CN" sz="2400" b="1" u="none" kern="2200" spc="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[5]</a:t>
                      </a:r>
                      <a:r>
                        <a:rPr lang="zh-CN" altLang="en-US" sz="2400" b="1" u="none" kern="2200" spc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、迭代加深搜索</a:t>
                      </a:r>
                      <a:r>
                        <a:rPr lang="en-US" altLang="zh-CN" sz="2400" b="1" u="none" kern="2200" spc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[5-6]</a:t>
                      </a:r>
                      <a:r>
                        <a:rPr lang="zh-CN" altLang="en-US" sz="2400" b="1" u="none" kern="2200" spc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、启发式搜索</a:t>
                      </a:r>
                      <a:r>
                        <a:rPr lang="en-US" altLang="zh-CN" sz="2400" b="1" u="none" kern="2200" spc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[7]</a:t>
                      </a:r>
                      <a:r>
                        <a:rPr lang="zh-CN" altLang="en-US" sz="2400" b="1" u="none" kern="2200" spc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endParaRPr lang="en-US" altLang="zh-CN" sz="2400" b="1" u="none" kern="2200" spc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239122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598620" y="1217022"/>
            <a:ext cx="7787955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“第十五届蓝桥杯大赛软件赛知识点大纲”中的搜索</a:t>
            </a:r>
          </a:p>
        </p:txBody>
      </p:sp>
    </p:spTree>
    <p:extLst>
      <p:ext uri="{BB962C8B-B14F-4D97-AF65-F5344CB8AC3E}">
        <p14:creationId xmlns:p14="http://schemas.microsoft.com/office/powerpoint/2010/main" val="1048026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225"/>
    </mc:Choice>
    <mc:Fallback xmlns="">
      <p:transition spd="slow" advTm="3222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2"/>
          <p:cNvSpPr txBox="1">
            <a:spLocks noChangeArrowheads="1"/>
          </p:cNvSpPr>
          <p:nvPr/>
        </p:nvSpPr>
        <p:spPr>
          <a:xfrm>
            <a:off x="771611" y="830139"/>
            <a:ext cx="8470765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sz="4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搜索算法简介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DCBB3D8-AE1A-4351-BDEB-2B350E4B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4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9" name="内容占位符 4"/>
          <p:cNvSpPr txBox="1">
            <a:spLocks/>
          </p:cNvSpPr>
          <p:nvPr/>
        </p:nvSpPr>
        <p:spPr>
          <a:xfrm>
            <a:off x="1362145" y="1942003"/>
            <a:ext cx="9773120" cy="347216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搜索：“暴力法”算法思想的具体实现。</a:t>
            </a: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搜索：“通用”的方法。一个问题，如果比较难，那么先尝试一下搜索，或许能启发出更好的算法。</a:t>
            </a: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遇到不会的难题，用搜索提交，也许能得到一些分数。</a:t>
            </a:r>
          </a:p>
        </p:txBody>
      </p:sp>
    </p:spTree>
    <p:extLst>
      <p:ext uri="{BB962C8B-B14F-4D97-AF65-F5344CB8AC3E}">
        <p14:creationId xmlns:p14="http://schemas.microsoft.com/office/powerpoint/2010/main" val="3639407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695"/>
    </mc:Choice>
    <mc:Fallback xmlns="">
      <p:transition spd="slow" advTm="4869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8620" y="413067"/>
            <a:ext cx="10515600" cy="1325563"/>
          </a:xfrm>
        </p:spPr>
        <p:txBody>
          <a:bodyPr>
            <a:normAutofit/>
          </a:bodyPr>
          <a:lstStyle/>
          <a:p>
            <a:pPr marL="742950" indent="-742950" eaLnBrk="0" fontAlgn="base" hangingPunct="0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搜索的基本思路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62145" y="1776736"/>
            <a:ext cx="9925825" cy="4369190"/>
          </a:xfrm>
        </p:spPr>
        <p:txBody>
          <a:bodyPr>
            <a:noAutofit/>
          </a:bodyPr>
          <a:lstStyle/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Breadth-First Search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，宽度优先搜索，或称为广度优先搜索</a:t>
            </a: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Depth-First Search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，深度优先搜索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3357808-7FE0-4D45-8421-FE4F8819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5</a:t>
            </a:fld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8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7768" y="4389951"/>
            <a:ext cx="3804840" cy="1776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779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663"/>
    </mc:Choice>
    <mc:Fallback xmlns="">
      <p:transition spd="slow" advTm="1866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8620" y="413067"/>
            <a:ext cx="10515600" cy="1325563"/>
          </a:xfrm>
        </p:spPr>
        <p:txBody>
          <a:bodyPr>
            <a:normAutofit/>
          </a:bodyPr>
          <a:lstStyle/>
          <a:p>
            <a:pPr marL="742950" indent="-742950" eaLnBrk="0" fontAlgn="base" hangingPunct="0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zh-CN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：一群老鼠走迷宫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62145" y="1564776"/>
            <a:ext cx="9925825" cy="4581150"/>
          </a:xfrm>
        </p:spPr>
        <p:txBody>
          <a:bodyPr>
            <a:noAutofit/>
          </a:bodyPr>
          <a:lstStyle/>
          <a:p>
            <a:pPr marL="447675" indent="-447675" algn="just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假设老鼠无限多；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在每个路口，都派出部分老鼠探索所有没走过的路；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走某条路的老鼠，如果碰壁无法前行，就停下；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如果到达的路口已经有别的老鼠探索过了，也停下；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所有的道路都会走到，而且不会重复。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全面扩散、逐层递进</a:t>
            </a:r>
          </a:p>
          <a:p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3357808-7FE0-4D45-8421-FE4F8819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6</a:t>
            </a:fld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805" y="3734410"/>
            <a:ext cx="2686227" cy="222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215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960"/>
    </mc:Choice>
    <mc:Fallback xmlns="">
      <p:transition spd="slow" advTm="5496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8620" y="413067"/>
            <a:ext cx="10515600" cy="1325563"/>
          </a:xfrm>
        </p:spPr>
        <p:txBody>
          <a:bodyPr>
            <a:normAutofit/>
          </a:bodyPr>
          <a:lstStyle/>
          <a:p>
            <a:pPr marL="742950" indent="-742950" eaLnBrk="0" fontAlgn="base" hangingPunct="0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zh-CN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访问示例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056735" y="1561102"/>
            <a:ext cx="10689350" cy="4581150"/>
          </a:xfrm>
        </p:spPr>
        <p:txBody>
          <a:bodyPr>
            <a:noAutofit/>
          </a:bodyPr>
          <a:lstStyle/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访问顺序：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{E B G A D F I C H}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即“第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E–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BG–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ADFI–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CH”</a:t>
            </a: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/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BFS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适合用于求解“最短路问题”：先扩散到的节点，离起点更近。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3357808-7FE0-4D45-8421-FE4F8819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7</a:t>
            </a:fld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" name="Picture 2" descr="https://img-blog.csdnimg.cn/20200302120105623.jpg?x-oss-process=image/watermark,type_ZmFuZ3poZW5naGVpdGk,shadow_10,text_aHR0cHM6Ly9ibG9nLmNzZG4ubmV0L3dlaXhpbl80MzkxNDU5Mw==,size_16,color_FFFFFF,t_7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3540" y="2890339"/>
            <a:ext cx="3317634" cy="2282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8906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771"/>
    </mc:Choice>
    <mc:Fallback xmlns="">
      <p:transition spd="slow" advTm="4577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8620" y="413067"/>
            <a:ext cx="10515600" cy="1325563"/>
          </a:xfrm>
        </p:spPr>
        <p:txBody>
          <a:bodyPr>
            <a:normAutofit/>
          </a:bodyPr>
          <a:lstStyle/>
          <a:p>
            <a:pPr marL="742950" indent="-742950" eaLnBrk="0" fontAlgn="base" hangingPunct="0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zh-CN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：一只老鼠走迷宫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32170" y="1738630"/>
            <a:ext cx="10383940" cy="4581150"/>
          </a:xfrm>
        </p:spPr>
        <p:txBody>
          <a:bodyPr>
            <a:noAutofit/>
          </a:bodyPr>
          <a:lstStyle/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只有一只老鼠；</a:t>
            </a: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在每个路口，都选择先走右边（先走左边也行），能走多远就走多远；</a:t>
            </a: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碰壁无法再继续往前走，往回退一步，这一次走左边，然后继续往下走；</a:t>
            </a: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用这个办法，能走遍所有的路，而且不会重复（回退不算重复走）。</a:t>
            </a: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一路到底、逐层回退</a:t>
            </a: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3357808-7FE0-4D45-8421-FE4F8819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8</a:t>
            </a:fld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586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921"/>
    </mc:Choice>
    <mc:Fallback xmlns="">
      <p:transition spd="slow" advTm="5992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8620" y="413067"/>
            <a:ext cx="10515600" cy="1325563"/>
          </a:xfrm>
        </p:spPr>
        <p:txBody>
          <a:bodyPr>
            <a:normAutofit/>
          </a:bodyPr>
          <a:lstStyle/>
          <a:p>
            <a:pPr marL="742950" indent="-742950" eaLnBrk="0" fontAlgn="base" hangingPunct="0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zh-CN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访问示例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62145" y="1564776"/>
            <a:ext cx="9925825" cy="4581150"/>
          </a:xfrm>
        </p:spPr>
        <p:txBody>
          <a:bodyPr>
            <a:noAutofit/>
          </a:bodyPr>
          <a:lstStyle/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设先访问左节点，后访问右节点；</a:t>
            </a: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访问顺序是：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{E B A D C G F I H}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en-US" altLang="zh-CN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DFS</a:t>
            </a: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适合用于求解“先后问题”</a:t>
            </a: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3357808-7FE0-4D45-8421-FE4F8819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9</a:t>
            </a:fld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Picture 2" descr="https://img-blog.csdnimg.cn/20200302120105623.jpg?x-oss-process=image/watermark,type_ZmFuZ3poZW5naGVpdGk,shadow_10,text_aHR0cHM6Ly9ibG9nLmNzZG4ubmV0L3dlaXhpbl80MzkxNDU5Mw==,size_16,color_FFFFFF,t_7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1033" y="2883841"/>
            <a:ext cx="3506106" cy="2412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/>
          <p:cNvSpPr txBox="1"/>
          <p:nvPr/>
        </p:nvSpPr>
        <p:spPr>
          <a:xfrm>
            <a:off x="5332320" y="2765564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439816" y="3227229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907736" y="3859289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181034" y="3880506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628467" y="4603272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783627" y="3227228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931593" y="4359104"/>
            <a:ext cx="281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976279" y="4141607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235924" y="4783869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9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729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888"/>
    </mc:Choice>
    <mc:Fallback xmlns="">
      <p:transition spd="slow" advTm="588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3210" y="-87426"/>
            <a:ext cx="10515600" cy="1325563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代码框架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62145" y="1259863"/>
            <a:ext cx="10689350" cy="458115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            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答案，用全局变量表示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层数，其他参数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if 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出局判断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){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到达最底层，或者满足条件退出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更新答案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答案一般用全局变量表示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return; 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返回到上一层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剪枝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     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在进一步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DFS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之前剪枝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for 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枚举下一层可能的情况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对每一个情况继续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DFS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if (used[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 == 0) {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如果状态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没有用过，就可以进入下一层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used[</a:t>
            </a:r>
            <a:r>
              <a:rPr lang="en-US" altLang="zh-CN" sz="200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 = 1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   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标记状态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表示已经用过，在更底层不能再使用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层数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+1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，其他参数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下一层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used[</a:t>
            </a:r>
            <a:r>
              <a:rPr lang="en-US" altLang="zh-CN" sz="200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 = 0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   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恢复状态，回溯时不影响上一层对这个状态的使用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return;                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返回到上一层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3357808-7FE0-4D45-8421-FE4F8819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10</a:t>
            </a:fld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矩形标注 5"/>
          <p:cNvSpPr/>
          <p:nvPr/>
        </p:nvSpPr>
        <p:spPr>
          <a:xfrm>
            <a:off x="2431080" y="5841013"/>
            <a:ext cx="4428445" cy="853357"/>
          </a:xfrm>
          <a:prstGeom prst="wedgeRectCallout">
            <a:avLst>
              <a:gd name="adj1" fmla="val -18798"/>
              <a:gd name="adj2" fmla="val -1472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0" dirty="0">
                <a:solidFill>
                  <a:srgbClr val="FFFF00"/>
                </a:solidFill>
              </a:rPr>
              <a:t>used[</a:t>
            </a:r>
            <a:r>
              <a:rPr lang="en-US" altLang="zh-CN" b="0" dirty="0" err="1">
                <a:solidFill>
                  <a:srgbClr val="FFFF00"/>
                </a:solidFill>
              </a:rPr>
              <a:t>i</a:t>
            </a:r>
            <a:r>
              <a:rPr lang="en-US" altLang="zh-CN" b="0" dirty="0">
                <a:solidFill>
                  <a:srgbClr val="FFFF00"/>
                </a:solidFill>
              </a:rPr>
              <a:t>] = 1</a:t>
            </a:r>
            <a:r>
              <a:rPr lang="zh-CN" altLang="en-US" b="0" dirty="0">
                <a:solidFill>
                  <a:srgbClr val="FFFF00"/>
                </a:solidFill>
              </a:rPr>
              <a:t>  “保存现场”，或“占有现场”</a:t>
            </a:r>
          </a:p>
          <a:p>
            <a:r>
              <a:rPr lang="en-US" altLang="zh-CN" b="0" dirty="0">
                <a:solidFill>
                  <a:srgbClr val="FFFF00"/>
                </a:solidFill>
              </a:rPr>
              <a:t>used[</a:t>
            </a:r>
            <a:r>
              <a:rPr lang="en-US" altLang="zh-CN" b="0" dirty="0" err="1">
                <a:solidFill>
                  <a:srgbClr val="FFFF00"/>
                </a:solidFill>
              </a:rPr>
              <a:t>i</a:t>
            </a:r>
            <a:r>
              <a:rPr lang="en-US" altLang="zh-CN" b="0" dirty="0">
                <a:solidFill>
                  <a:srgbClr val="FFFF00"/>
                </a:solidFill>
              </a:rPr>
              <a:t>] = 0  </a:t>
            </a:r>
            <a:r>
              <a:rPr lang="zh-CN" altLang="en-US" b="0" dirty="0">
                <a:solidFill>
                  <a:srgbClr val="FFFF00"/>
                </a:solidFill>
              </a:rPr>
              <a:t>“恢复现场”，或“释放现场”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5515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8114"/>
    </mc:Choice>
    <mc:Fallback xmlns="">
      <p:transition spd="slow" advTm="1181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751325" y="382668"/>
            <a:ext cx="7482545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4000" dirty="0"/>
              <a:t>2 DFS</a:t>
            </a:r>
            <a:r>
              <a:rPr lang="zh-CN" altLang="en-US" sz="4000" dirty="0"/>
              <a:t>与排列组合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5909F0-64E2-491F-9959-C302AC3A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11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904030" y="2093257"/>
            <a:ext cx="10378450" cy="133574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排列组合用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实现，不仅代码易写，而且应用灵活。</a:t>
            </a:r>
          </a:p>
        </p:txBody>
      </p:sp>
    </p:spTree>
    <p:extLst>
      <p:ext uri="{BB962C8B-B14F-4D97-AF65-F5344CB8AC3E}">
        <p14:creationId xmlns:p14="http://schemas.microsoft.com/office/powerpoint/2010/main" val="119579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113"/>
    </mc:Choice>
    <mc:Fallback xmlns="">
      <p:transition spd="slow" advTm="3511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5909F0-64E2-491F-9959-C302AC3A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12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3958130" y="0"/>
            <a:ext cx="8233869" cy="68580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1600" b="0" dirty="0">
                <a:latin typeface="宋体" panose="02010600030101010101" pitchFamily="2" charset="-122"/>
                <a:ea typeface="宋体" panose="02010600030101010101" pitchFamily="2" charset="-122"/>
              </a:rPr>
              <a:t>#include&lt;bits/stdc++.h&gt;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1600" b="0" dirty="0"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int a[20]={1,2,3,4,5,6,7,8,9,10,11,12,13};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bool vis[20];     //</a:t>
            </a: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记录第</a:t>
            </a: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个数是否用过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int b[20];        //</a:t>
            </a: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生成的一个全排列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void dfs(int s,int t){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if(s==t) {    //</a:t>
            </a: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递归结束，产生一个全排列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for(int i=0; i&lt;t; ++i)  cout&lt;&lt;b[i]&lt;&lt;" ";//</a:t>
            </a: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输出一个排列            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cout&lt;&lt;</a:t>
            </a:r>
            <a:r>
              <a:rPr lang="en-US" altLang="zh-CN" sz="2000" b="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   return;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for(int i=0;i&lt;t;i++)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    if(!vis[i]){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pt-BR" altLang="zh-CN" sz="20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vis[i]=true;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        b[s]=a[i];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        dfs(s+1,t);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pt-BR" altLang="zh-CN" sz="20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vis[i]=false;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int main(){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int n=3;   dfs(0,n);     //</a:t>
            </a: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前</a:t>
            </a: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个数的全排列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pt-BR" altLang="zh-CN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return 0;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6" name="内容占位符 4"/>
          <p:cNvSpPr txBox="1">
            <a:spLocks/>
          </p:cNvSpPr>
          <p:nvPr/>
        </p:nvSpPr>
        <p:spPr>
          <a:xfrm>
            <a:off x="561634" y="1291130"/>
            <a:ext cx="2748689" cy="45811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从小到大打印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个数的全排列</a:t>
            </a: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例：前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个数的全排列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440" y="3581705"/>
            <a:ext cx="1361097" cy="2866993"/>
          </a:xfrm>
          <a:prstGeom prst="rect">
            <a:avLst/>
          </a:prstGeom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598620" y="374900"/>
            <a:ext cx="2290575" cy="7337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dirty="0"/>
              <a:t>打印排列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1635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0564"/>
    </mc:Choice>
    <mc:Fallback xmlns="">
      <p:transition spd="slow" advTm="2105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5909F0-64E2-491F-9959-C302AC3A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13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6" name="内容占位符 4"/>
          <p:cNvSpPr txBox="1">
            <a:spLocks/>
          </p:cNvSpPr>
          <p:nvPr/>
        </p:nvSpPr>
        <p:spPr>
          <a:xfrm>
            <a:off x="140505" y="374899"/>
            <a:ext cx="4618136" cy="595549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开始，第一次进入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。图中标注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的位置。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循环，赋值：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b[1] = 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b[1] = 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b[1] = 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。对应图中最左边三条线上标注的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447675" indent="-447675"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vis[1] = 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a[1] = 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已经放在排列中，后续不能再用。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进入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，第二次进入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。图中标注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的位置。</a:t>
            </a:r>
          </a:p>
          <a:p>
            <a:pPr marL="447675" indent="-447675"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循环。当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时，判断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vis[1]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已经被使用，所以不再继续，用图中最上面的虚线表示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不再继续。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可以继续往后执行，例如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时，先赋值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b[2] = 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；然后进入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，并赋值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b[3] = 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最后进入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(4)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，判断已经得到全排列，输出第一个全排列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{1, 2, 3}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。图中相关的是标注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的位置。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5027065" y="83301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/>
          </p:cNvGraphicFramePr>
          <p:nvPr/>
        </p:nvGraphicFramePr>
        <p:xfrm>
          <a:off x="4568950" y="222195"/>
          <a:ext cx="6871725" cy="5650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057496" imgH="2704930" progId="Visio.Drawing.15">
                  <p:embed/>
                </p:oleObj>
              </mc:Choice>
              <mc:Fallback>
                <p:oleObj name="Visio" r:id="rId3" imgW="3057496" imgH="2704930" progId="Visio.Drawing.15">
                  <p:embed/>
                  <p:pic>
                    <p:nvPicPr>
                      <p:cNvPr id="4" name="对象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8950" y="222195"/>
                        <a:ext cx="6871725" cy="56500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09502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0564"/>
    </mc:Choice>
    <mc:Fallback xmlns="">
      <p:transition spd="slow" advTm="210564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5909F0-64E2-491F-9959-C302AC3A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14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4874360" y="374900"/>
            <a:ext cx="6281785" cy="602498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#include&lt;bits/stdc++.h&gt;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int vis[10]={0};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void dfs(int k) {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if (k == 3) {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    for(int i=0;i&lt;3;i++)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        cout&lt;&lt;vis[i];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    cout&lt;&lt;endl;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else {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pt-BR" altLang="zh-CN" sz="20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vis[k] = 0;          //</a:t>
            </a:r>
            <a:r>
              <a:rPr lang="zh-CN" altLang="en-US" sz="20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不选中第</a:t>
            </a:r>
            <a:r>
              <a:rPr lang="pt-BR" altLang="zh-CN" sz="20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sz="20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个数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dfs(k + 1);          //</a:t>
            </a: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继续搜下一个数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pt-BR" altLang="zh-CN" sz="20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vis[k] = 1;          //</a:t>
            </a:r>
            <a:r>
              <a:rPr lang="zh-CN" altLang="en-US" sz="20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选这个数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dfs(k + 1);          //</a:t>
            </a: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继续搜下一个数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int main() {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dfs(0); //</a:t>
            </a: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从第一个数开始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return 0;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 useBgFill="1">
        <p:nvSpPr>
          <p:cNvPr id="6" name="内容占位符 4"/>
          <p:cNvSpPr txBox="1">
            <a:spLocks/>
          </p:cNvSpPr>
          <p:nvPr/>
        </p:nvSpPr>
        <p:spPr>
          <a:xfrm>
            <a:off x="260974" y="1291129"/>
            <a:ext cx="3544451" cy="503926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时，选或不选第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个数，就实现了各种组合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）：打印二进制数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 ~ 111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如果要反过来打印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111 ~ 000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，只需交换红色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598620" y="374900"/>
            <a:ext cx="2290575" cy="7337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dirty="0"/>
              <a:t>打印组合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994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22"/>
    </mc:Choice>
    <mc:Fallback xmlns="">
      <p:transition spd="slow" advTm="754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904030" y="374900"/>
            <a:ext cx="7482545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4000" dirty="0"/>
              <a:t>DFS</a:t>
            </a:r>
            <a:r>
              <a:rPr lang="zh-CN" altLang="en-US" sz="4000" dirty="0"/>
              <a:t>与连通性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5909F0-64E2-491F-9959-C302AC3A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15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1362145" y="1564776"/>
            <a:ext cx="9925825" cy="45811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连通性问题，计算步骤：</a:t>
            </a:r>
          </a:p>
          <a:p>
            <a:pPr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遍历一个连通块；</a:t>
            </a:r>
          </a:p>
          <a:p>
            <a:pPr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再遍历下一个连通块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遍历完所有连通块，统计有多少个连通块。</a:t>
            </a:r>
          </a:p>
        </p:txBody>
      </p:sp>
    </p:spTree>
    <p:extLst>
      <p:ext uri="{BB962C8B-B14F-4D97-AF65-F5344CB8AC3E}">
        <p14:creationId xmlns:p14="http://schemas.microsoft.com/office/powerpoint/2010/main" val="2957626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261"/>
    </mc:Choice>
    <mc:Fallback xmlns="">
      <p:transition spd="slow" advTm="3126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751325" y="401182"/>
            <a:ext cx="10245585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200" dirty="0"/>
              <a:t>例题：全球变暖  </a:t>
            </a:r>
            <a:r>
              <a:rPr lang="en-US" altLang="zh-CN" sz="2000" dirty="0"/>
              <a:t>https://www.lanqiao.cn/problems/178/learning/</a:t>
            </a:r>
            <a:endParaRPr lang="zh-CN" altLang="en-US" sz="2000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5909F0-64E2-491F-9959-C302AC3A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16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 useBgFill="1">
        <p:nvSpPr>
          <p:cNvPr id="5" name="内容占位符 4"/>
          <p:cNvSpPr txBox="1">
            <a:spLocks/>
          </p:cNvSpPr>
          <p:nvPr/>
        </p:nvSpPr>
        <p:spPr>
          <a:xfrm>
            <a:off x="751325" y="1564776"/>
            <a:ext cx="8704185" cy="45811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题目描述</a:t>
            </a:r>
            <a:r>
              <a:rPr lang="en-US" altLang="zh-CN" sz="20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有一张某海域 </a:t>
            </a:r>
            <a:r>
              <a:rPr lang="en-US" altLang="zh-CN" sz="20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NxN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像素的照片，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“.”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表示海洋、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“#”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表示陆地，如图所示：</a:t>
            </a:r>
            <a:endParaRPr lang="en-US" altLang="zh-CN" sz="2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上下左右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四个方向上连在一起的一片陆地组成一座岛屿。例如上图有 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座岛屿。由于全球变暖导致了海面上升，未来几十年，岛屿边缘一个像素的范围会被海水淹没。具体来说如果一块陆地像素与海洋相邻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上下左右四个相邻像素中有海洋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，它就会被淹没。例如上图中的海域未来会变成如下样子：</a:t>
            </a:r>
            <a:endParaRPr lang="en-US" altLang="zh-CN" sz="2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请你计算：照片中有多少岛屿会被完全淹没。照片保证第 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行、第 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列、第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行、第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列的像素都是海洋。</a:t>
            </a:r>
          </a:p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输入描述</a:t>
            </a:r>
            <a:r>
              <a:rPr lang="en-US" altLang="zh-CN" sz="20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第一行包含一个整数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N(1≤N≤1000)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。以下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列代表一张海域照片。</a:t>
            </a:r>
          </a:p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输出描述</a:t>
            </a:r>
            <a:r>
              <a:rPr lang="en-US" altLang="zh-CN" sz="20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输出一个整数表示答案。</a:t>
            </a:r>
          </a:p>
        </p:txBody>
      </p:sp>
      <p:sp>
        <p:nvSpPr>
          <p:cNvPr id="6" name="文本框 5" descr="7b0a202020202262756c6c6574223a20227b5c2263617465676f727949645c223a31303030352c5c2274656d706c61746549645c223a32303233313332387d220a7d0a"/>
          <p:cNvSpPr txBox="1"/>
          <p:nvPr/>
        </p:nvSpPr>
        <p:spPr>
          <a:xfrm>
            <a:off x="9768660" y="1299076"/>
            <a:ext cx="137434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.......</a:t>
            </a:r>
          </a:p>
          <a:p>
            <a:pPr algn="l"/>
            <a:r>
              <a:rPr lang="en-US" altLang="zh-CN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.##....</a:t>
            </a:r>
          </a:p>
          <a:p>
            <a:pPr algn="l"/>
            <a:r>
              <a:rPr lang="en-US" altLang="zh-CN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.##....</a:t>
            </a:r>
          </a:p>
          <a:p>
            <a:pPr algn="l"/>
            <a:r>
              <a:rPr lang="en-US" altLang="zh-CN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....##.</a:t>
            </a:r>
          </a:p>
          <a:p>
            <a:pPr algn="l"/>
            <a:r>
              <a:rPr lang="en-US" altLang="zh-CN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..####.</a:t>
            </a:r>
          </a:p>
          <a:p>
            <a:pPr algn="l"/>
            <a:r>
              <a:rPr lang="en-US" altLang="zh-CN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...###.</a:t>
            </a:r>
          </a:p>
          <a:p>
            <a:pPr algn="l"/>
            <a:r>
              <a:rPr lang="en-US" altLang="zh-CN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.......</a:t>
            </a:r>
          </a:p>
          <a:p>
            <a:pPr algn="l"/>
            <a:endParaRPr lang="en-US" altLang="zh-CN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endParaRPr lang="en-US" altLang="zh-CN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.......</a:t>
            </a:r>
          </a:p>
          <a:p>
            <a:pPr algn="l"/>
            <a:r>
              <a:rPr lang="en-US" altLang="zh-CN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.......</a:t>
            </a:r>
          </a:p>
          <a:p>
            <a:pPr algn="l"/>
            <a:r>
              <a:rPr lang="en-US" altLang="zh-CN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.......</a:t>
            </a:r>
          </a:p>
          <a:p>
            <a:pPr algn="l"/>
            <a:r>
              <a:rPr lang="en-US" altLang="zh-CN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.......</a:t>
            </a:r>
          </a:p>
          <a:p>
            <a:pPr algn="l"/>
            <a:r>
              <a:rPr lang="en-US" altLang="zh-CN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....#..</a:t>
            </a:r>
          </a:p>
          <a:p>
            <a:pPr algn="l"/>
            <a:r>
              <a:rPr lang="en-US" altLang="zh-CN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.......</a:t>
            </a:r>
          </a:p>
          <a:p>
            <a:pPr algn="l"/>
            <a:r>
              <a:rPr lang="en-US" altLang="zh-CN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.......</a:t>
            </a:r>
            <a:endParaRPr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24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465"/>
    </mc:Choice>
    <mc:Fallback xmlns="">
      <p:transition spd="slow" advTm="884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5909F0-64E2-491F-9959-C302AC3A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17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669635" y="1596540"/>
            <a:ext cx="8022350" cy="45811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什么岛屿不会被完全淹没？</a:t>
            </a: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若岛中有个陆地（称为高地），它周围都是陆地，那么这个岛不会被完全淹没。</a:t>
            </a: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搜出有多少个岛（连通块），检查这个岛有没有高地，统计那些没有高地的岛（连通块）的数量，就是答案。</a:t>
            </a: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计算复杂度：每个像素点只用搜一次且必须至少搜一次，共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个点，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的复杂度是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O(N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，不可能更好了。</a:t>
            </a:r>
          </a:p>
        </p:txBody>
      </p:sp>
      <p:sp>
        <p:nvSpPr>
          <p:cNvPr id="6" name="文本框 5" descr="7b0a202020202262756c6c6574223a20227b5c2263617465676f727949645c223a31303030352c5c2274656d706c61746549645c223a32303233313332387d220a7d0a"/>
          <p:cNvSpPr txBox="1"/>
          <p:nvPr/>
        </p:nvSpPr>
        <p:spPr>
          <a:xfrm>
            <a:off x="9608215" y="1889482"/>
            <a:ext cx="234790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.......</a:t>
            </a:r>
          </a:p>
          <a:p>
            <a:pPr algn="l"/>
            <a:r>
              <a:rPr lang="en-US" altLang="zh-CN" sz="32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.##....</a:t>
            </a:r>
          </a:p>
          <a:p>
            <a:pPr algn="l"/>
            <a:r>
              <a:rPr lang="en-US" altLang="zh-CN" sz="32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.##....</a:t>
            </a:r>
          </a:p>
          <a:p>
            <a:pPr algn="l"/>
            <a:r>
              <a:rPr lang="en-US" altLang="zh-CN" sz="32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....##.</a:t>
            </a:r>
          </a:p>
          <a:p>
            <a:pPr algn="l"/>
            <a:r>
              <a:rPr lang="en-US" altLang="zh-CN" sz="32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..####.</a:t>
            </a:r>
          </a:p>
          <a:p>
            <a:pPr algn="l"/>
            <a:r>
              <a:rPr lang="en-US" altLang="zh-CN" sz="32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...###.</a:t>
            </a:r>
          </a:p>
          <a:p>
            <a:pPr algn="l"/>
            <a:r>
              <a:rPr lang="en-US" altLang="zh-CN" sz="32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.......</a:t>
            </a:r>
            <a:endParaRPr sz="3200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598620" y="374900"/>
            <a:ext cx="7482545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200" dirty="0"/>
              <a:t>连通性判断</a:t>
            </a:r>
          </a:p>
        </p:txBody>
      </p:sp>
    </p:spTree>
    <p:extLst>
      <p:ext uri="{BB962C8B-B14F-4D97-AF65-F5344CB8AC3E}">
        <p14:creationId xmlns:p14="http://schemas.microsoft.com/office/powerpoint/2010/main" val="991308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191"/>
    </mc:Choice>
    <mc:Fallback xmlns="">
      <p:transition spd="slow" advTm="661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598620" y="374900"/>
            <a:ext cx="7482545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3600" dirty="0"/>
              <a:t>DFS</a:t>
            </a:r>
            <a:r>
              <a:rPr lang="zh-CN" altLang="en-US" sz="3600" dirty="0"/>
              <a:t>判断连通性的步骤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5909F0-64E2-491F-9959-C302AC3A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18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669635" y="1750415"/>
            <a:ext cx="7869645" cy="45811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从图上任意一个点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开始遍历，标记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已经搜过。</a:t>
            </a: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递归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的所有符合连通条件的邻居点。</a:t>
            </a: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递归结束，找到了与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连通的所有点，这是一个连通块。</a:t>
            </a: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连通的、其他没有访问到的点，继续用上述步骤处理，找到所有的连通块。</a:t>
            </a:r>
          </a:p>
        </p:txBody>
      </p:sp>
      <p:sp>
        <p:nvSpPr>
          <p:cNvPr id="8" name="文本框 7" descr="7b0a202020202262756c6c6574223a20227b5c2263617465676f727949645c223a31303030352c5c2274656d706c61746549645c223a32303233313332387d220a7d0a"/>
          <p:cNvSpPr txBox="1"/>
          <p:nvPr/>
        </p:nvSpPr>
        <p:spPr>
          <a:xfrm>
            <a:off x="9608215" y="1889482"/>
            <a:ext cx="234790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.......</a:t>
            </a:r>
          </a:p>
          <a:p>
            <a:pPr algn="l"/>
            <a:r>
              <a:rPr lang="en-US" altLang="zh-CN" sz="32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.##....</a:t>
            </a:r>
          </a:p>
          <a:p>
            <a:pPr algn="l"/>
            <a:r>
              <a:rPr lang="en-US" altLang="zh-CN" sz="32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.##....</a:t>
            </a:r>
          </a:p>
          <a:p>
            <a:pPr algn="l"/>
            <a:r>
              <a:rPr lang="en-US" altLang="zh-CN" sz="32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....##.</a:t>
            </a:r>
          </a:p>
          <a:p>
            <a:pPr algn="l"/>
            <a:r>
              <a:rPr lang="en-US" altLang="zh-CN" sz="32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..####.</a:t>
            </a:r>
          </a:p>
          <a:p>
            <a:pPr algn="l"/>
            <a:r>
              <a:rPr lang="en-US" altLang="zh-CN" sz="32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...###.</a:t>
            </a:r>
          </a:p>
          <a:p>
            <a:pPr algn="l"/>
            <a:r>
              <a:rPr lang="en-US" altLang="zh-CN" sz="32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.......</a:t>
            </a:r>
            <a:endParaRPr sz="3200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723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5"/>
    </mc:Choice>
    <mc:Fallback xmlns="">
      <p:transition spd="slow" advTm="569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751325" y="100199"/>
            <a:ext cx="7482545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3600" dirty="0"/>
              <a:t>3 DFS</a:t>
            </a:r>
            <a:r>
              <a:rPr lang="zh-CN" altLang="en-US" sz="3600" dirty="0"/>
              <a:t>剪枝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5909F0-64E2-491F-9959-C302AC3A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19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461396" y="1414752"/>
            <a:ext cx="11300170" cy="45811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可行性剪枝：对当前状态进行检查，如果当前条件不合法就不再继续，直接返回。</a:t>
            </a:r>
          </a:p>
          <a:p>
            <a:pPr marL="447675" indent="-447675" algn="just" fontAlgn="auto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搜索顺序剪枝：搜索树有多个层次和分支，不同的搜索顺序产生不同的搜索树形态。</a:t>
            </a:r>
          </a:p>
          <a:p>
            <a:pPr marL="447675" indent="-447675" algn="just" fontAlgn="auto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最优性剪枝：在最优化问题的搜索过程中，如果当前花费的代价已超过前面搜索到的最优解，那么本次搜索已经没有继续进行下去的意义。</a:t>
            </a:r>
          </a:p>
          <a:p>
            <a:pPr marL="447675" indent="-447675" algn="just" fontAlgn="auto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排除等效冗余：如果搜索的不同分支，最后的结果一样，那么只需搜一个分支。</a:t>
            </a:r>
          </a:p>
          <a:p>
            <a:pPr marL="447675" indent="-447675" algn="just" fontAlgn="auto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记忆化搜索：在递归的过程中，有许多分支被反复计算，会大大降低算法的执行效率。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9671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7172"/>
    </mc:Choice>
    <mc:Fallback xmlns="">
      <p:transition spd="slow" advTm="1771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904030" y="476191"/>
            <a:ext cx="8093365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dirty="0"/>
              <a:t>数的划分 </a:t>
            </a:r>
            <a:r>
              <a:rPr lang="en-US" altLang="zh-CN" sz="2000" dirty="0"/>
              <a:t>https://www.luogu.com.cn/problem/P1025</a:t>
            </a:r>
            <a:endParaRPr lang="zh-CN" altLang="en-US" sz="1200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5909F0-64E2-491F-9959-C302AC3A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20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904031" y="1750906"/>
            <a:ext cx="10383940" cy="45811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问题描述：将整数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分成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份，且每份不能为空，任意两个方案不相同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不考虑顺序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n= 7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k=3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，下面三种分法被认为是相同的。</a:t>
            </a:r>
          </a:p>
          <a:p>
            <a:pPr marL="0" indent="0" algn="just" fontAlgn="auto">
              <a:lnSpc>
                <a:spcPct val="140000"/>
              </a:lnSpc>
              <a:spcAft>
                <a:spcPts val="0"/>
              </a:spcAft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{1, 1, 5}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{1, 5, 1}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{5, 1, 1}</a:t>
            </a: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问有多少种不同的分法。</a:t>
            </a:r>
          </a:p>
        </p:txBody>
      </p:sp>
    </p:spTree>
    <p:extLst>
      <p:ext uri="{BB962C8B-B14F-4D97-AF65-F5344CB8AC3E}">
        <p14:creationId xmlns:p14="http://schemas.microsoft.com/office/powerpoint/2010/main" val="2481377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669"/>
    </mc:Choice>
    <mc:Fallback xmlns="">
      <p:transition spd="slow" advTm="82669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751325" y="222195"/>
            <a:ext cx="7482545" cy="5095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200" dirty="0"/>
              <a:t>题解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5909F0-64E2-491F-9959-C302AC3A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21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735700" y="985719"/>
            <a:ext cx="10552270" cy="53446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140000"/>
              </a:lnSpc>
              <a:spcAft>
                <a:spcPts val="0"/>
              </a:spcAft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求解整数划分的思路，就是模拟划分的过程。由于题目不用考虑划分数的大小顺序，为了简化划分过程，让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份数从小到大进行。</a:t>
            </a:r>
          </a:p>
          <a:p>
            <a:pPr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第一个数肯定是最小的数字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第二个数大于等于第一个数，可选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，最大不能超过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(n-1)/(k-1)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。设第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第三个数大于等于第二个数，可选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x+1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，最大不能超过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(n-1-x)/(k-2)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。这个最大值的限制就是可行性剪枝。</a:t>
            </a:r>
          </a:p>
          <a:p>
            <a:pPr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继续以上划分过程，当划分了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个数，且它们的和为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时，就是一个合法的划分。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532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741"/>
    </mc:Choice>
    <mc:Fallback xmlns="">
      <p:transition spd="slow" advTm="1617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904030" y="476191"/>
            <a:ext cx="8704185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dirty="0"/>
              <a:t>小木棍    </a:t>
            </a:r>
            <a:r>
              <a:rPr lang="en-US" altLang="zh-CN" sz="2000" dirty="0"/>
              <a:t>https://www.luogu.com.cn/problem/P1120</a:t>
            </a:r>
            <a:endParaRPr lang="zh-CN" altLang="en-US" sz="2000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5909F0-64E2-491F-9959-C302AC3A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22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1209440" y="1556554"/>
            <a:ext cx="9925825" cy="45811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乔治有一些同样长的小木棍，他把这些木棍随意砍成几段，直到每段的长都不超过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现在，他想把小木棍拼接成原来的样子，但是却忘记了自己开始时有多少根木棍和它们的长度。</a:t>
            </a: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给出每段小木棍的长度，编程帮他找出原始木棍的最小可能长度。</a:t>
            </a: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表示砍过以后的小木棍的总数，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≤ 65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1858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589"/>
    </mc:Choice>
    <mc:Fallback xmlns="">
      <p:transition spd="slow" advTm="615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904030" y="476191"/>
            <a:ext cx="7482545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dirty="0"/>
              <a:t>题解</a:t>
            </a:r>
            <a:r>
              <a:rPr lang="en-US" altLang="zh-CN" sz="3600" dirty="0"/>
              <a:t>1</a:t>
            </a:r>
            <a:r>
              <a:rPr lang="zh-CN" altLang="en-US" sz="3600" dirty="0"/>
              <a:t>：暴力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5909F0-64E2-491F-9959-C302AC3A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23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965520" y="1734041"/>
            <a:ext cx="9925825" cy="45811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尝试原始木棍所有可能的长度，看是否能拼接好这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个小木棍。例如：设原始木棍长度为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，搜索所有的木棍组合，如果能够把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个木棍都拼接成长度为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的木棍，则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就是一个合适的长度；在所有合适的长度中，取最小值输出。</a:t>
            </a: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搜索所有的组合。复杂度：对一个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的检查，小木棍的组合是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O(N!)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6200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768"/>
    </mc:Choice>
    <mc:Fallback xmlns="">
      <p:transition spd="slow" advTm="757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904030" y="476191"/>
            <a:ext cx="7482545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dirty="0"/>
              <a:t>题解</a:t>
            </a:r>
            <a:r>
              <a:rPr lang="en-US" altLang="zh-CN" sz="3600" dirty="0"/>
              <a:t>2</a:t>
            </a:r>
            <a:r>
              <a:rPr lang="zh-CN" altLang="en-US" sz="3600" dirty="0"/>
              <a:t>：剪枝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5909F0-64E2-491F-9959-C302AC3A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24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598620" y="1596540"/>
            <a:ext cx="10994760" cy="45811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优化搜索顺序。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把小木棍按长度从大到小排序，然后按从大到小的顺序做拼接的尝试。过程是：对于给定的可能长度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，从最长的小木棍开始拼接，在拼接时，继续从下一个较长的小木棍开始；持续这个操作，直到所有木棍都拼接成功或某一个没有拼接成功为止。一旦不能拼接，这个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就不用再尝试。</a:t>
            </a:r>
          </a:p>
          <a:p>
            <a:pPr marL="447675" indent="-447675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排除等效冗余。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上面优化搜索顺序中，是用贪心的策略进行搜索，为什么这里可以用贪心？因为是不同顺序的拼接是等效的，例如先拼长的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，再拼短的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，和先拼短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，再拼长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是一样的。</a:t>
            </a:r>
          </a:p>
          <a:p>
            <a:pPr marL="447675" indent="-447675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对长度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的优化。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其实并不用检查大范围的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，因为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是小木棍总长度的一个约数，例如总长度是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，那么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只可能是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。计算小木棍的总长度，找到它的大于最长小木棍长度的所有约数，这就是原始木棍的可能长度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。然后按从小到大排序，尝试拼接，如果成功，则输出结果，后面不再尝试。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7225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2985"/>
    </mc:Choice>
    <mc:Fallback xmlns="">
      <p:transition spd="slow" advTm="1729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904030" y="476191"/>
            <a:ext cx="8093365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3600" dirty="0"/>
              <a:t>4 DFS</a:t>
            </a:r>
            <a:r>
              <a:rPr lang="zh-CN" altLang="en-US" sz="3600" dirty="0"/>
              <a:t>例题  </a:t>
            </a:r>
            <a:r>
              <a:rPr lang="en-US" altLang="zh-CN" sz="3600" dirty="0"/>
              <a:t>	</a:t>
            </a:r>
            <a:r>
              <a:rPr lang="zh-CN" altLang="en-US" sz="3600" dirty="0"/>
              <a:t>有奖问答 </a:t>
            </a:r>
            <a:r>
              <a:rPr lang="en-US" altLang="zh-CN" sz="2400" dirty="0" err="1"/>
              <a:t>lanqiaoOJ</a:t>
            </a:r>
            <a:r>
              <a:rPr lang="en-US" altLang="zh-CN" sz="2400" dirty="0"/>
              <a:t> 3497</a:t>
            </a:r>
            <a:endParaRPr lang="zh-CN" altLang="en-US" sz="1000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5909F0-64E2-491F-9959-C302AC3A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25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904031" y="1750906"/>
            <a:ext cx="10383940" cy="45811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问题描述：小蓝正在参与一个现场问答的节目。活动中一共有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道题目，每题只有答对和答错两种情况，每答对一题得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分，答错一题分数归零。</a:t>
            </a: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小蓝可以在任意时刻结束答题并获得目前分数对应的奖项，之后不能再答任何题目。最高奖项需要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分，所以到达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分时小蓝会直接停止答题。</a:t>
            </a: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已知小蓝最终实际获得了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分对应的奖项，请问小蓝所有可能的答题情况有多少种。</a:t>
            </a:r>
          </a:p>
        </p:txBody>
      </p:sp>
    </p:spTree>
    <p:extLst>
      <p:ext uri="{BB962C8B-B14F-4D97-AF65-F5344CB8AC3E}">
        <p14:creationId xmlns:p14="http://schemas.microsoft.com/office/powerpoint/2010/main" val="2345151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313"/>
    </mc:Choice>
    <mc:Fallback xmlns="">
      <p:transition spd="slow" advTm="108313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751325" y="222195"/>
            <a:ext cx="7482545" cy="5095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200" dirty="0"/>
              <a:t>题解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5909F0-64E2-491F-9959-C302AC3A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26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735700" y="985720"/>
            <a:ext cx="2458905" cy="106893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140000"/>
              </a:lnSpc>
              <a:spcAft>
                <a:spcPts val="0"/>
              </a:spcAft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填空题。用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编码直接搜索所有情况。</a:t>
            </a:r>
          </a:p>
        </p:txBody>
      </p:sp>
      <p:sp>
        <p:nvSpPr>
          <p:cNvPr id="2" name="矩形 1"/>
          <p:cNvSpPr/>
          <p:nvPr/>
        </p:nvSpPr>
        <p:spPr>
          <a:xfrm>
            <a:off x="3652720" y="207180"/>
            <a:ext cx="8093365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#include&lt;bits/</a:t>
            </a: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stdc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++.h&gt;</a:t>
            </a:r>
            <a:endParaRPr lang="en-US" altLang="zh-CN" sz="4800" kern="22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en-US" altLang="zh-CN" sz="4800" kern="22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ans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</a:t>
            </a:r>
            <a:endParaRPr lang="en-US" altLang="zh-CN" sz="4800" kern="22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dfs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x,int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score,int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k){//x: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题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score: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得分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k: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对错</a:t>
            </a:r>
            <a:endParaRPr lang="zh-CN" altLang="en-US" sz="4800" kern="22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if(k==0) score=0;        //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答错了，归零</a:t>
            </a:r>
            <a:endParaRPr lang="zh-CN" altLang="en-US" sz="4800" kern="22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else{</a:t>
            </a:r>
            <a:endParaRPr lang="en-US" altLang="zh-CN" sz="4800" kern="22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score+=10;           //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答对了</a:t>
            </a:r>
            <a:endParaRPr lang="zh-CN" altLang="en-US" sz="4800" kern="22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if(score==100)       //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剪枝</a:t>
            </a:r>
            <a:endParaRPr lang="zh-CN" altLang="en-US" sz="4800" kern="22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return; //100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分不是符合要求的答题情况，</a:t>
            </a: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ans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不用加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4800" kern="22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zh-CN" altLang="en-US" sz="4800" kern="22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if(score==70) </a:t>
            </a: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ans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++;      //70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分，答案加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4800" kern="22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if(x==30) return;         //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30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题，剪枝</a:t>
            </a:r>
            <a:endParaRPr lang="zh-CN" altLang="en-US" sz="4800" kern="22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dfs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(x+1,score,0);         //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继续做题。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0: 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答错了</a:t>
            </a:r>
            <a:endParaRPr lang="zh-CN" altLang="en-US" sz="4800" kern="22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dfs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(x+1,score,1);         //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继续做题。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：答对了</a:t>
            </a:r>
            <a:endParaRPr lang="zh-CN" altLang="en-US" sz="4800" kern="22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zh-CN" altLang="en-US" sz="4800" kern="22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main(){</a:t>
            </a:r>
            <a:endParaRPr lang="en-US" altLang="zh-CN" sz="4800" kern="22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dfs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(0,0,0);</a:t>
            </a:r>
            <a:endParaRPr lang="en-US" altLang="zh-CN" sz="4800" kern="22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ans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en-US" altLang="zh-CN" sz="4800" kern="22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4800" kern="22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740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6567"/>
    </mc:Choice>
    <mc:Fallback xmlns="">
      <p:transition spd="slow" advTm="136567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904030" y="476191"/>
            <a:ext cx="10689350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dirty="0"/>
              <a:t>最长距离 </a:t>
            </a:r>
            <a:r>
              <a:rPr lang="en-US" altLang="zh-CN" sz="2000" dirty="0"/>
              <a:t>https://www.luogu.com.cn/problem/P4162</a:t>
            </a:r>
            <a:endParaRPr lang="zh-CN" altLang="en-US" sz="600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5909F0-64E2-491F-9959-C302AC3A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27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904031" y="1750906"/>
            <a:ext cx="10383940" cy="45811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有一块矩形土地，被分为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N×M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块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1×1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的小格子。有的格子含有障碍物。如果从格子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可以走到格子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，那么两个格子的距离就为两个格子中心的欧几里德距离。如果从格子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不可以走到格子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，就没有距离。如果格子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和格子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有公共边，并且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均不含有障碍物，就可以从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走到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。如果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可以移走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块障碍物，求所有格子间的最大距离。保证移走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块障碍物以后，至少有一个格子不含有障碍物。</a:t>
            </a: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输入：第一行包含三个整数，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N, M, 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。接下来有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行，每行一个长度为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的字符串，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表示空格子，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表示该格子含有障碍物。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1≤N, M≤30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0≤T≤30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输出：包含一个浮点数，保留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位小数。</a:t>
            </a:r>
          </a:p>
        </p:txBody>
      </p:sp>
    </p:spTree>
    <p:extLst>
      <p:ext uri="{BB962C8B-B14F-4D97-AF65-F5344CB8AC3E}">
        <p14:creationId xmlns:p14="http://schemas.microsoft.com/office/powerpoint/2010/main" val="526269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8145"/>
    </mc:Choice>
    <mc:Fallback xmlns="">
      <p:transition spd="slow" advTm="128145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751325" y="222195"/>
            <a:ext cx="7482545" cy="5095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200" dirty="0"/>
              <a:t>题解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5909F0-64E2-491F-9959-C302AC3A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28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735700" y="985720"/>
            <a:ext cx="10399565" cy="488656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用这道例题讲解如何用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搜索所有的路径。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本题的解法是图论的最短路。两个格子之间的最少障碍数量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cnt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，就是这两个格子之间的最短路径长度。如果这条最短路径的长度满足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cnt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，那么它是一个符合题意的合法路径，可以计算出这两个格子的欧氏距离。计算出任意两点的欧氏距离，取最大值就是答案。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计算最短路一般用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Dijkstra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SPFA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这样的高级最短路算法，可用于多达百万个点的图。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本题的图很小，也可以用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计算最短路，虽然效率低下，但是代码简单。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2581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348"/>
    </mc:Choice>
    <mc:Fallback xmlns="">
      <p:transition spd="slow" advTm="1093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5909F0-64E2-491F-9959-C302AC3A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29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681975" y="680310"/>
            <a:ext cx="10399565" cy="503926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如何计算起点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和终点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之间的最短路？从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出发，在每一步都向上、下、左、右四个方向继续走，暴力搜索出所有到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的路径，并比较得到其中最短的那条路径长度，就是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之间的最短路。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计算最短路，效率很低下。因为它要搜索所有路径，而路径非常多，其数量是指数级的。需要在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中剪枝，把不可能产生答案的路径剪去。用到两种剪枝：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）可行性剪枝。从起点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出发，到一个点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时，如果路径上的障碍数量已经超过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个，后面就不用继续了。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）记忆化搜索。从起点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出发到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的路径有很多条，设第一次得到的路径长度为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cnt1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，第二次得到的路径长度是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cnt2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，如果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cnt1&lt;cnt2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，那么保留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cnt1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就可以了，第二次的路径计算的结果应该丢弃，并不再从这个点继续搜索路径。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7959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046"/>
    </mc:Choice>
    <mc:Fallback xmlns="">
      <p:transition spd="slow" advTm="1020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598620" y="221426"/>
            <a:ext cx="10689350" cy="5095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dirty="0"/>
              <a:t>例题</a:t>
            </a:r>
            <a:r>
              <a:rPr lang="en-US" altLang="zh-CN" sz="3600" dirty="0"/>
              <a:t>6.13</a:t>
            </a:r>
            <a:r>
              <a:rPr lang="zh-CN" altLang="en-US" sz="3600" dirty="0"/>
              <a:t>：买瓜    </a:t>
            </a:r>
            <a:r>
              <a:rPr lang="en-US" altLang="zh-CN" sz="3200" dirty="0" err="1"/>
              <a:t>LanqiaoOJ</a:t>
            </a:r>
            <a:r>
              <a:rPr lang="en-US" altLang="zh-CN" sz="3200" dirty="0"/>
              <a:t> 3505</a:t>
            </a:r>
            <a:endParaRPr lang="zh-CN" altLang="en-US" sz="500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5909F0-64E2-491F-9959-C302AC3A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30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713295" y="833015"/>
            <a:ext cx="10569490" cy="45811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问题描述：小蓝正在一个瓜摊上买瓜。瓜摊上共有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个瓜，每个瓜的重量为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。小蓝刀功了得，他可以把任何瓜劈成完全等重的两份，不过每个瓜只能劈一刀。小蓝希望买到的瓜的重量的和恰好为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。请问小蓝至少要劈多少个瓜才能买到重量恰好为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的瓜。如果无论怎样小蓝都无法得到总重恰好为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的瓜，请输出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输入：输入的第一行包含两个整数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n,m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，用一个空格分隔，分别表示瓜的个数和小蓝想买到的瓜的总重量。第二行包含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个整数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，相邻整数之间使用一个空格分隔，分别表示每个瓜的重量。对于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的评测用例，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；对于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60%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的评测用例，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；对于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的评测用例，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输出：一个整数表示答案。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7314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8145"/>
    </mc:Choice>
    <mc:Fallback xmlns="">
      <p:transition spd="slow" advTm="128145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751325" y="222195"/>
            <a:ext cx="7482545" cy="5095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200" dirty="0"/>
              <a:t>题解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5909F0-64E2-491F-9959-C302AC3A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31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735700" y="1291130"/>
            <a:ext cx="10399565" cy="488656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首先注意到评测用例中的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都不大，估计可以用暴力的搜索解决。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个瓜有三个选项：完整的瓜重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、半个瓜重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Ai/2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、不要这个瓜。本题简单的做法是对所有的瓜进行组合，每个瓜尝试三个选项。共有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种组合，可以通过约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的测试，用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编码求组合。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代码用到一个小技巧，为了避免除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出现小数，改为把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乘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，那么每个瓜的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个选项是：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2Ai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70%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的测试。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0728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348"/>
    </mc:Choice>
    <mc:Fallback xmlns="">
      <p:transition spd="slow" advTm="109348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94D7-36C4-4E93-AE7A-0CAF6AF174FC}" type="slidenum">
              <a:rPr lang="zh-CN" altLang="en-US" smtClean="0"/>
              <a:pPr/>
              <a:t>32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1514850" y="240804"/>
            <a:ext cx="9467710" cy="66171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#include&lt;bits/stdc++.h&gt;</a:t>
            </a:r>
          </a:p>
          <a:p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n,m;</a:t>
            </a:r>
          </a:p>
          <a:p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a[40];</a:t>
            </a:r>
          </a:p>
          <a:p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ans=40;</a:t>
            </a:r>
          </a:p>
          <a:p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void dfs(int step,int s,int k){ </a:t>
            </a:r>
          </a:p>
          <a:p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//step:第step个瓜，s:已选中的瓜的总重，k:砍了几刀</a:t>
            </a:r>
          </a:p>
          <a:p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if (s &gt; m || k &gt;= ans)     return;</a:t>
            </a:r>
          </a:p>
          <a:p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if(s==m) {</a:t>
            </a:r>
          </a:p>
          <a:p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ans=min(ans,k);</a:t>
            </a:r>
          </a:p>
          <a:p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return;</a:t>
            </a:r>
          </a:p>
          <a:p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</a:p>
          <a:p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if(step==n+1)  return;</a:t>
            </a:r>
          </a:p>
          <a:p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dfs(step+1,s,k);                   //不选</a:t>
            </a:r>
          </a:p>
          <a:p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dfs(step+1,s+a[step],k+1);         //ai，砍了一刀</a:t>
            </a:r>
          </a:p>
          <a:p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dfs(step+1,s+a[step]*2,k);         //2ai</a:t>
            </a:r>
          </a:p>
          <a:p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main(){</a:t>
            </a:r>
          </a:p>
          <a:p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cin&gt;&gt;n&gt;&gt;m;   m&lt;&lt;=1;               //m乘2</a:t>
            </a:r>
          </a:p>
          <a:p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for(int i=1;i&lt;=n;i++)  cin&gt;&gt;a[i];</a:t>
            </a:r>
          </a:p>
          <a:p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dfs(1,0,0);</a:t>
            </a:r>
          </a:p>
          <a:p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cout &lt;&lt; (ans == 40? -1: ans) &lt;&lt; endl;</a:t>
            </a:r>
          </a:p>
          <a:p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423149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2"/>
          <p:cNvSpPr txBox="1">
            <a:spLocks noChangeArrowheads="1"/>
          </p:cNvSpPr>
          <p:nvPr/>
        </p:nvSpPr>
        <p:spPr>
          <a:xfrm>
            <a:off x="771611" y="830139"/>
            <a:ext cx="8470765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l"/>
            <a:r>
              <a:rPr lang="en-US" altLang="zh-CN" sz="4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 BFS</a:t>
            </a:r>
            <a:r>
              <a:rPr lang="zh-CN" altLang="en-US" sz="4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原理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DCBB3D8-AE1A-4351-BDEB-2B350E4B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33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9" name="内容占位符 4"/>
          <p:cNvSpPr txBox="1">
            <a:spLocks/>
          </p:cNvSpPr>
          <p:nvPr/>
        </p:nvSpPr>
        <p:spPr>
          <a:xfrm>
            <a:off x="1362145" y="1942003"/>
            <a:ext cx="9773120" cy="347216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原理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：“逐层扩散”。从起点出发，按层次从近到远，逐层先后搜索。</a:t>
            </a: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：用队列实现。</a:t>
            </a: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一般用于求最短路径问题，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的特点是逐层搜索，先搜到的层离起点更近。</a:t>
            </a:r>
          </a:p>
        </p:txBody>
      </p:sp>
    </p:spTree>
    <p:extLst>
      <p:ext uri="{BB962C8B-B14F-4D97-AF65-F5344CB8AC3E}">
        <p14:creationId xmlns:p14="http://schemas.microsoft.com/office/powerpoint/2010/main" val="2516018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023"/>
    </mc:Choice>
    <mc:Fallback xmlns="">
      <p:transition spd="slow" advTm="45023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8620" y="413067"/>
            <a:ext cx="10515600" cy="1325563"/>
          </a:xfrm>
        </p:spPr>
        <p:txBody>
          <a:bodyPr>
            <a:normAutofit/>
          </a:bodyPr>
          <a:lstStyle/>
          <a:p>
            <a:pPr marL="742950" indent="-742950" eaLnBrk="0" fontAlgn="base" hangingPunct="0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zh-CN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：一群老鼠走迷宫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62145" y="1564776"/>
            <a:ext cx="9925825" cy="4581150"/>
          </a:xfrm>
        </p:spPr>
        <p:txBody>
          <a:bodyPr>
            <a:noAutofit/>
          </a:bodyPr>
          <a:lstStyle/>
          <a:p>
            <a:pPr marL="447675" indent="-447675" algn="just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假设老鼠无限多；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在每个路口，都派出部分老鼠探索所有没走过的路；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走某条路的老鼠，如果碰壁无法前行，就停下；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如果到达的路口已经有别的老鼠探索过了，也停下；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所有的道路都会走到，而且不会重复。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全面扩散、逐层递进</a:t>
            </a:r>
          </a:p>
          <a:p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3357808-7FE0-4D45-8421-FE4F8819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34</a:t>
            </a:fld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805" y="3734410"/>
            <a:ext cx="2686227" cy="222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8624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312"/>
    </mc:Choice>
    <mc:Fallback xmlns="">
      <p:transition spd="slow" advTm="64312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8620" y="413067"/>
            <a:ext cx="10515600" cy="1325563"/>
          </a:xfrm>
        </p:spPr>
        <p:txBody>
          <a:bodyPr>
            <a:normAutofit/>
          </a:bodyPr>
          <a:lstStyle/>
          <a:p>
            <a:pPr marL="742950" indent="-742950" eaLnBrk="0" fontAlgn="base" hangingPunct="0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zh-CN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访问示例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056735" y="1561102"/>
            <a:ext cx="10689350" cy="4581150"/>
          </a:xfrm>
        </p:spPr>
        <p:txBody>
          <a:bodyPr>
            <a:noAutofit/>
          </a:bodyPr>
          <a:lstStyle/>
          <a:p>
            <a:pPr marL="447675" indent="-447675" algn="just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全面扩散、逐层递进</a:t>
            </a: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访问顺序：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{E B G A D F I C H}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即“第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E–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BG–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ADFI–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CH”</a:t>
            </a: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3357808-7FE0-4D45-8421-FE4F8819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35</a:t>
            </a:fld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" name="Picture 2" descr="https://img-blog.csdnimg.cn/20200302120105623.jpg?x-oss-process=image/watermark,type_ZmFuZ3poZW5naGVpdGk,shadow_10,text_aHR0cHM6Ly9ibG9nLmNzZG4ubmV0L3dlaXhpbl80MzkxNDU5Mw==,size_16,color_FFFFFF,t_7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6245" y="3734410"/>
            <a:ext cx="3317634" cy="2282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5699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739"/>
    </mc:Choice>
    <mc:Fallback xmlns="">
      <p:transition spd="slow" advTm="36739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8620" y="413067"/>
            <a:ext cx="10515600" cy="1325563"/>
          </a:xfrm>
        </p:spPr>
        <p:txBody>
          <a:bodyPr>
            <a:normAutofit/>
          </a:bodyPr>
          <a:lstStyle/>
          <a:p>
            <a:pPr marL="742950" indent="-742950" eaLnBrk="0" fontAlgn="base" hangingPunct="0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zh-CN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基本代码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056735" y="1561102"/>
            <a:ext cx="10689350" cy="4581150"/>
          </a:xfrm>
        </p:spPr>
        <p:txBody>
          <a:bodyPr>
            <a:noAutofit/>
          </a:bodyPr>
          <a:lstStyle/>
          <a:p>
            <a:pPr marL="447675" indent="-447675" algn="just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BFS =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队列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”。</a:t>
            </a:r>
            <a:endParaRPr lang="en-US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47675" indent="-447675" algn="just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以老鼠走迷宫为例，从起点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开始一层一层地扩散出去，处理完离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近的第</a:t>
            </a:r>
            <a:r>
              <a:rPr lang="en-US" altLang="zh-CN" sz="2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层之后，再处理第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i+1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层。这一操作用队列最方便，处理第</a:t>
            </a:r>
            <a:r>
              <a:rPr lang="en-US" altLang="zh-CN" sz="2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层的节点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时，把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的第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i+1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层的邻居，放到队列尾部即可。</a:t>
            </a:r>
            <a:endParaRPr lang="en-US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47675" indent="-447675" algn="just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队列内的点有两个特征：</a:t>
            </a:r>
          </a:p>
          <a:p>
            <a:pPr marL="0" indent="0" algn="just">
              <a:lnSpc>
                <a:spcPct val="140000"/>
              </a:lnSpc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）处理完第</a:t>
            </a:r>
            <a:r>
              <a:rPr lang="en-US" altLang="zh-CN" sz="2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层后，才会处理第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i+1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层；</a:t>
            </a:r>
          </a:p>
          <a:p>
            <a:pPr marL="0" indent="0" algn="just">
              <a:lnSpc>
                <a:spcPct val="140000"/>
              </a:lnSpc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）队列中任意时刻最多有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层节点，其中第</a:t>
            </a:r>
            <a:r>
              <a:rPr lang="en-US" altLang="zh-CN" sz="2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层节点都在第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i+1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层前面。	</a:t>
            </a:r>
            <a:endParaRPr lang="en-US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3357808-7FE0-4D45-8421-FE4F8819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36</a:t>
            </a:fld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0378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007"/>
    </mc:Choice>
    <mc:Fallback xmlns="">
      <p:transition spd="slow" advTm="570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8620" y="413067"/>
            <a:ext cx="10515600" cy="1325563"/>
          </a:xfrm>
        </p:spPr>
        <p:txBody>
          <a:bodyPr>
            <a:normAutofit/>
          </a:bodyPr>
          <a:lstStyle/>
          <a:p>
            <a:pPr marL="742950" indent="-742950" eaLnBrk="0" fontAlgn="base" hangingPunct="0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zh-CN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基本代码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091784" y="1947239"/>
            <a:ext cx="6225855" cy="1481761"/>
          </a:xfrm>
        </p:spPr>
        <p:txBody>
          <a:bodyPr>
            <a:noAutofit/>
          </a:bodyPr>
          <a:lstStyle/>
          <a:p>
            <a:pPr marL="447675" indent="-447675" algn="just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下面给出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遍历二叉树的代码。竞赛中一般用静态版二叉树，不易出错。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3357808-7FE0-4D45-8421-FE4F8819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37</a:t>
            </a:fld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" name="Picture 2" descr="https://img-blog.csdnimg.cn/20200302120105623.jpg?x-oss-process=image/watermark,type_ZmFuZ3poZW5naGVpdGk,shadow_10,text_aHR0cHM6Ly9ibG9nLmNzZG4ubmV0L3dlaXhpbl80MzkxNDU5Mw==,size_16,color_FFFFFF,t_7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1165" y="2360065"/>
            <a:ext cx="3623044" cy="249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254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759"/>
    </mc:Choice>
    <mc:Fallback xmlns="">
      <p:transition spd="slow" advTm="120759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3357808-7FE0-4D45-8421-FE4F8819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38</a:t>
            </a:fld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31080" y="-7040485"/>
            <a:ext cx="9941306" cy="13898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&lt;bits/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stdc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++.h&gt;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N = 100005;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struct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Node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//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用静态数组记录二叉树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 value;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lson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rson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          //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左右孩子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}tree[N];                     //tree[0]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不用，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表示空结点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index = 1;                //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记录结点存在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tree[]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的位置，从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tree[1]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开始用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newNode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(char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val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tree[index].value =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val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tree[index].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lson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0;     //0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表示空，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tree[0]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不用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tree[index].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rson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0;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return index ++;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void Insert(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&amp;father,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child,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l_r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//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插入孩子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if(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l_r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== 0)  tree[father].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lson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child;     //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左孩子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else          tree[father].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rson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child;     //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右孩子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buildtree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//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建一棵二叉树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A =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newNode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'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A');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B =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newNode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'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B');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 =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newNode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'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C');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D =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newNode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'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D');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E =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newNode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'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E');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F =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newNode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'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F');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G =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newNode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'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G');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H =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newNode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'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H');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 =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newNode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'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I');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Insert(E,B,0);  Insert(E,G,1);       //E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的左孩子是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，右孩子是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Insert(B,A,0);  Insert(B,D,1);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Insert(G,F,0);  Insert(G,I,1);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Insert(D,C,0);  Insert(I,H,0);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root = E;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root;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r>
              <a:rPr lang="en-US" altLang="zh-CN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root =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buildtree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queue &lt;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 q;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q.push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(root);                          //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从根结点开始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while(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q.size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</a:t>
            </a:r>
            <a:r>
              <a:rPr lang="en-US" altLang="zh-CN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q.front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tree[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].value &lt;&lt; " ";    //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打印队头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q.pop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                           //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去掉队头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if(tree[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].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lson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!= 0)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q.push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(tree[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].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lson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   //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左孩子入队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if(tree[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].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rson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!= 0)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q.push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(tree[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].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rson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   //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右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孩子入队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return 0;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86730" y="985602"/>
            <a:ext cx="2344349" cy="458115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STL</a:t>
            </a:r>
          </a:p>
          <a:p>
            <a:pPr marL="0" indent="0" algn="just">
              <a:lnSpc>
                <a:spcPct val="140000"/>
              </a:lnSpc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queue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队列</a:t>
            </a:r>
            <a:endParaRPr lang="en-US" altLang="zh-CN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414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640"/>
    </mc:Choice>
    <mc:Fallback xmlns="">
      <p:transition spd="slow" advTm="7364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8620" y="413067"/>
            <a:ext cx="10515600" cy="1325563"/>
          </a:xfrm>
        </p:spPr>
        <p:txBody>
          <a:bodyPr>
            <a:normAutofit/>
          </a:bodyPr>
          <a:lstStyle/>
          <a:p>
            <a:pPr marL="742950" indent="-742950" eaLnBrk="0" fontAlgn="base" hangingPunct="0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遍历二叉树的复杂度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091785" y="1947239"/>
            <a:ext cx="6683970" cy="4581150"/>
          </a:xfrm>
        </p:spPr>
        <p:txBody>
          <a:bodyPr>
            <a:noAutofit/>
          </a:bodyPr>
          <a:lstStyle/>
          <a:p>
            <a:pPr marL="447675" indent="-447675" algn="just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复杂度：需要检查每条边，且只需检查一次，时间复杂度是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O(m)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是边的数量。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复杂度：每个点只需进出队列各一次，队列的长度是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O(n)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是点的数量。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3357808-7FE0-4D45-8421-FE4F8819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39</a:t>
            </a:fld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" name="Picture 2" descr="https://img-blog.csdnimg.cn/20200302120105623.jpg?x-oss-process=image/watermark,type_ZmFuZ3poZW5naGVpdGk,shadow_10,text_aHR0cHM6Ly9ibG9nLmNzZG4ubmV0L3dlaXhpbl80MzkxNDU5Mw==,size_16,color_FFFFFF,t_7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3870" y="2126242"/>
            <a:ext cx="3317634" cy="2282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66394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425"/>
    </mc:Choice>
    <mc:Fallback xmlns="">
      <p:transition spd="slow" advTm="474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3210" y="-87426"/>
            <a:ext cx="10515600" cy="1325563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lang="en-US" altLang="zh-CN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BFS</a:t>
            </a:r>
            <a:r>
              <a:rPr lang="zh-CN" altLang="en-US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与最短路径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98620" y="1138425"/>
            <a:ext cx="10689350" cy="4581150"/>
          </a:xfrm>
        </p:spPr>
        <p:txBody>
          <a:bodyPr>
            <a:noAutofit/>
          </a:bodyPr>
          <a:lstStyle/>
          <a:p>
            <a:pPr marL="447675" indent="-447675" algn="just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找从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到*的最短路径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3357808-7FE0-4D45-8421-FE4F8819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40</a:t>
            </a:fld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260" y="2000478"/>
            <a:ext cx="8854973" cy="449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726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706"/>
    </mc:Choice>
    <mc:Fallback xmlns="">
      <p:transition spd="slow" advTm="150706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3357808-7FE0-4D45-8421-FE4F8819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41</a:t>
            </a:fld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555" y="911499"/>
            <a:ext cx="9015344" cy="2547999"/>
          </a:xfrm>
          <a:prstGeom prst="rect">
            <a:avLst/>
          </a:prstGeom>
        </p:spPr>
      </p:pic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572522" y="3996036"/>
          <a:ext cx="9205410" cy="20097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0929">
                  <a:extLst>
                    <a:ext uri="{9D8B030D-6E8A-4147-A177-3AD203B41FA5}">
                      <a16:colId xmlns:a16="http://schemas.microsoft.com/office/drawing/2014/main" val="3792816310"/>
                    </a:ext>
                  </a:extLst>
                </a:gridCol>
                <a:gridCol w="2159735">
                  <a:extLst>
                    <a:ext uri="{9D8B030D-6E8A-4147-A177-3AD203B41FA5}">
                      <a16:colId xmlns:a16="http://schemas.microsoft.com/office/drawing/2014/main" val="2379133019"/>
                    </a:ext>
                  </a:extLst>
                </a:gridCol>
                <a:gridCol w="2381246">
                  <a:extLst>
                    <a:ext uri="{9D8B030D-6E8A-4147-A177-3AD203B41FA5}">
                      <a16:colId xmlns:a16="http://schemas.microsoft.com/office/drawing/2014/main" val="3450039795"/>
                    </a:ext>
                  </a:extLst>
                </a:gridCol>
                <a:gridCol w="2833500">
                  <a:extLst>
                    <a:ext uri="{9D8B030D-6E8A-4147-A177-3AD203B41FA5}">
                      <a16:colId xmlns:a16="http://schemas.microsoft.com/office/drawing/2014/main" val="124632027"/>
                    </a:ext>
                  </a:extLst>
                </a:gridCol>
              </a:tblGrid>
              <a:tr h="3911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effectLst/>
                        </a:rPr>
                        <a:t>步骤</a:t>
                      </a:r>
                      <a:endParaRPr lang="zh-CN" altLang="en-US" sz="2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effectLst/>
                        </a:rPr>
                        <a:t>出队列</a:t>
                      </a:r>
                      <a:endParaRPr lang="zh-CN" altLang="en-US" sz="2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kern="100">
                          <a:effectLst/>
                        </a:rPr>
                        <a:t>进队列</a:t>
                      </a:r>
                      <a:endParaRPr lang="zh-CN" altLang="en-US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kern="100">
                          <a:effectLst/>
                        </a:rPr>
                        <a:t>当前队列内的点</a:t>
                      </a:r>
                      <a:endParaRPr lang="zh-CN" altLang="en-US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887628859"/>
                  </a:ext>
                </a:extLst>
              </a:tr>
              <a:tr h="3911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effectLst/>
                        </a:rPr>
                        <a:t>(1)</a:t>
                      </a:r>
                      <a:endParaRPr lang="zh-CN" altLang="en-US" sz="2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27940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dirty="0">
                          <a:effectLst/>
                        </a:rPr>
                        <a:t> </a:t>
                      </a:r>
                      <a:endParaRPr lang="zh-CN" altLang="en-US" sz="2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effectLst/>
                        </a:rPr>
                        <a:t>1</a:t>
                      </a:r>
                      <a:endParaRPr lang="zh-CN" altLang="en-US" sz="2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>
                          <a:effectLst/>
                        </a:rPr>
                        <a:t>1</a:t>
                      </a:r>
                      <a:endParaRPr lang="zh-CN" altLang="en-US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64602149"/>
                  </a:ext>
                </a:extLst>
              </a:tr>
              <a:tr h="3911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>
                          <a:effectLst/>
                        </a:rPr>
                        <a:t>(2)</a:t>
                      </a:r>
                      <a:endParaRPr lang="zh-CN" altLang="en-US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>
                          <a:effectLst/>
                        </a:rPr>
                        <a:t>1</a:t>
                      </a:r>
                      <a:endParaRPr lang="zh-CN" altLang="en-US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effectLst/>
                        </a:rPr>
                        <a:t>2</a:t>
                      </a:r>
                      <a:r>
                        <a:rPr lang="zh-CN" altLang="en-US" sz="2000" kern="100" dirty="0">
                          <a:effectLst/>
                        </a:rPr>
                        <a:t>、</a:t>
                      </a:r>
                      <a:r>
                        <a:rPr lang="en-US" altLang="zh-CN" sz="2000" kern="100" dirty="0">
                          <a:effectLst/>
                        </a:rPr>
                        <a:t>3</a:t>
                      </a:r>
                      <a:endParaRPr lang="zh-CN" altLang="en-US" sz="2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>
                          <a:effectLst/>
                        </a:rPr>
                        <a:t>2</a:t>
                      </a:r>
                      <a:r>
                        <a:rPr lang="zh-CN" altLang="en-US" sz="2000" kern="100">
                          <a:effectLst/>
                        </a:rPr>
                        <a:t>、</a:t>
                      </a:r>
                      <a:r>
                        <a:rPr lang="en-US" altLang="zh-CN" sz="2000" kern="100">
                          <a:effectLst/>
                        </a:rPr>
                        <a:t>3</a:t>
                      </a:r>
                      <a:endParaRPr lang="zh-CN" altLang="en-US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134458828"/>
                  </a:ext>
                </a:extLst>
              </a:tr>
              <a:tr h="3911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>
                          <a:effectLst/>
                        </a:rPr>
                        <a:t>(3)</a:t>
                      </a:r>
                      <a:endParaRPr lang="zh-CN" altLang="en-US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>
                          <a:effectLst/>
                        </a:rPr>
                        <a:t>2</a:t>
                      </a:r>
                      <a:endParaRPr lang="zh-CN" altLang="en-US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effectLst/>
                        </a:rPr>
                        <a:t>4</a:t>
                      </a:r>
                      <a:r>
                        <a:rPr lang="zh-CN" altLang="en-US" sz="2000" kern="100" dirty="0">
                          <a:effectLst/>
                        </a:rPr>
                        <a:t>、</a:t>
                      </a:r>
                      <a:r>
                        <a:rPr lang="en-US" altLang="zh-CN" sz="2000" kern="100" dirty="0">
                          <a:effectLst/>
                        </a:rPr>
                        <a:t>5</a:t>
                      </a:r>
                      <a:r>
                        <a:rPr lang="zh-CN" altLang="en-US" sz="2000" kern="100" dirty="0">
                          <a:effectLst/>
                        </a:rPr>
                        <a:t>、</a:t>
                      </a:r>
                      <a:r>
                        <a:rPr lang="en-US" altLang="zh-CN" sz="2000" kern="100" dirty="0">
                          <a:effectLst/>
                        </a:rPr>
                        <a:t>6</a:t>
                      </a:r>
                      <a:endParaRPr lang="zh-CN" altLang="en-US" sz="2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effectLst/>
                        </a:rPr>
                        <a:t>3</a:t>
                      </a:r>
                      <a:r>
                        <a:rPr lang="zh-CN" altLang="en-US" sz="2000" kern="100" dirty="0">
                          <a:effectLst/>
                        </a:rPr>
                        <a:t>、</a:t>
                      </a:r>
                      <a:r>
                        <a:rPr lang="en-US" altLang="zh-CN" sz="2000" kern="100" dirty="0">
                          <a:effectLst/>
                        </a:rPr>
                        <a:t>4</a:t>
                      </a:r>
                      <a:r>
                        <a:rPr lang="zh-CN" altLang="en-US" sz="2000" kern="100" dirty="0">
                          <a:effectLst/>
                        </a:rPr>
                        <a:t>、</a:t>
                      </a:r>
                      <a:r>
                        <a:rPr lang="en-US" altLang="zh-CN" sz="2000" kern="100" dirty="0">
                          <a:effectLst/>
                        </a:rPr>
                        <a:t>5</a:t>
                      </a:r>
                      <a:r>
                        <a:rPr lang="zh-CN" altLang="en-US" sz="2000" kern="100" dirty="0">
                          <a:effectLst/>
                        </a:rPr>
                        <a:t>、</a:t>
                      </a:r>
                      <a:r>
                        <a:rPr lang="en-US" altLang="zh-CN" sz="2000" kern="100" dirty="0">
                          <a:effectLst/>
                        </a:rPr>
                        <a:t>6</a:t>
                      </a:r>
                      <a:endParaRPr lang="zh-CN" altLang="en-US" sz="2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081385194"/>
                  </a:ext>
                </a:extLst>
              </a:tr>
              <a:tr h="3911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effectLst/>
                        </a:rPr>
                        <a:t>(4)</a:t>
                      </a:r>
                      <a:endParaRPr lang="zh-CN" altLang="en-US" sz="2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effectLst/>
                        </a:rPr>
                        <a:t>3</a:t>
                      </a:r>
                      <a:endParaRPr lang="zh-CN" altLang="en-US" sz="2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effectLst/>
                        </a:rPr>
                        <a:t>7</a:t>
                      </a:r>
                      <a:r>
                        <a:rPr lang="zh-CN" altLang="en-US" sz="2000" kern="100" dirty="0">
                          <a:effectLst/>
                        </a:rPr>
                        <a:t>、</a:t>
                      </a:r>
                      <a:r>
                        <a:rPr lang="en-US" altLang="zh-CN" sz="2000" kern="100" dirty="0">
                          <a:effectLst/>
                        </a:rPr>
                        <a:t>8</a:t>
                      </a:r>
                      <a:endParaRPr lang="zh-CN" altLang="en-US" sz="2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effectLst/>
                        </a:rPr>
                        <a:t>4</a:t>
                      </a:r>
                      <a:r>
                        <a:rPr lang="zh-CN" altLang="en-US" sz="2000" kern="100" dirty="0">
                          <a:effectLst/>
                        </a:rPr>
                        <a:t>、</a:t>
                      </a:r>
                      <a:r>
                        <a:rPr lang="en-US" altLang="zh-CN" sz="2000" kern="100" dirty="0">
                          <a:effectLst/>
                        </a:rPr>
                        <a:t>5</a:t>
                      </a:r>
                      <a:r>
                        <a:rPr lang="zh-CN" altLang="en-US" sz="2000" kern="100" dirty="0">
                          <a:effectLst/>
                        </a:rPr>
                        <a:t>、</a:t>
                      </a:r>
                      <a:r>
                        <a:rPr lang="en-US" altLang="zh-CN" sz="2000" kern="100" dirty="0">
                          <a:effectLst/>
                        </a:rPr>
                        <a:t>6</a:t>
                      </a:r>
                      <a:r>
                        <a:rPr lang="zh-CN" altLang="en-US" sz="2000" kern="100" dirty="0">
                          <a:effectLst/>
                        </a:rPr>
                        <a:t>、</a:t>
                      </a:r>
                      <a:r>
                        <a:rPr lang="en-US" altLang="zh-CN" sz="2000" kern="100" dirty="0">
                          <a:effectLst/>
                        </a:rPr>
                        <a:t>7</a:t>
                      </a:r>
                      <a:r>
                        <a:rPr lang="zh-CN" altLang="en-US" sz="2000" kern="100" dirty="0">
                          <a:effectLst/>
                        </a:rPr>
                        <a:t>、</a:t>
                      </a:r>
                      <a:r>
                        <a:rPr lang="en-US" altLang="zh-CN" sz="2000" kern="100" dirty="0">
                          <a:effectLst/>
                        </a:rPr>
                        <a:t>8</a:t>
                      </a:r>
                      <a:endParaRPr lang="zh-CN" altLang="en-US" sz="2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822310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535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046"/>
    </mc:Choice>
    <mc:Fallback xmlns="">
      <p:transition spd="slow" advTm="75046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904030" y="374900"/>
            <a:ext cx="7482545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4000" dirty="0"/>
              <a:t>最短路径与</a:t>
            </a:r>
            <a:r>
              <a:rPr lang="en-US" altLang="zh-CN" sz="4000" dirty="0"/>
              <a:t>BFS</a:t>
            </a:r>
            <a:endParaRPr lang="zh-CN" altLang="en-US" sz="4000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5909F0-64E2-491F-9959-C302AC3A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42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1171019" y="1443835"/>
            <a:ext cx="9925825" cy="45811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特点：逐层扩散。</a:t>
            </a:r>
          </a:p>
          <a:p>
            <a:pPr marL="447675" indent="-447675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往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的队列中加入邻居节点时，按距离起点远近的顺序加入：先加入距离起点为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的邻居节点，加完之后，再加入距离为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的邻居节点，等等。</a:t>
            </a:r>
          </a:p>
          <a:p>
            <a:pPr marL="447675" indent="-447675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搜完一层，才会继续搜下一层。</a:t>
            </a:r>
          </a:p>
          <a:p>
            <a:pPr marL="447675" indent="-447675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最短路径：从起点开始，沿着每一层逐步往外走，每多一层，路径长度就增加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447675" indent="-447675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所有长度相同的最短路径都是从相同的层次扩散出去的。</a:t>
            </a:r>
          </a:p>
          <a:p>
            <a:pPr marL="447675" indent="-447675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搜到第一个到达终点的路径，就是最短路径。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1987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671"/>
    </mc:Choice>
    <mc:Fallback xmlns="">
      <p:transition spd="slow" advTm="626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8620" y="413067"/>
            <a:ext cx="10515600" cy="1325563"/>
          </a:xfrm>
        </p:spPr>
        <p:txBody>
          <a:bodyPr>
            <a:normAutofit/>
          </a:bodyPr>
          <a:lstStyle/>
          <a:p>
            <a:pPr marL="742950" indent="-742950" eaLnBrk="0" fontAlgn="base" hangingPunct="0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最短路径问题：</a:t>
            </a: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的应用场合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62145" y="1564776"/>
            <a:ext cx="9925825" cy="4581150"/>
          </a:xfrm>
        </p:spPr>
        <p:txBody>
          <a:bodyPr>
            <a:noAutofit/>
          </a:bodyPr>
          <a:lstStyle/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应用场合：点和点直连的距离是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，即边长是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最短路径长度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跳数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3357808-7FE0-4D45-8421-FE4F8819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43</a:t>
            </a:fld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26" name="Picture 2" descr="https://img-blog.csdnimg.cn/20190331160006157.png?x-oss-process=image/watermark,type_ZmFuZ3poZW5naGVpdGk,shadow_10,text_aHR0cHM6Ly9ibG9nLmNzZG4ubmV0L3FxXzQxODk2Njgz,size_16,color_FFFFFF,t_7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610" y="3429000"/>
            <a:ext cx="4255140" cy="2375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1181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031"/>
    </mc:Choice>
    <mc:Fallback xmlns="">
      <p:transition spd="slow" advTm="5403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t>44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21" name="内容占位符 2"/>
          <p:cNvSpPr txBox="1"/>
          <p:nvPr/>
        </p:nvSpPr>
        <p:spPr>
          <a:xfrm>
            <a:off x="1056735" y="1596540"/>
            <a:ext cx="10275334" cy="414644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问题描述：有一个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n×m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的棋盘，在某个点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上有一个马，要求你计算出马到达棋盘上任意一个点最少要走几步。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输入：输入只有一行四个整数，分别为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n,m,x,y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1≤x≤n≤400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1≤y≤m≤400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输出：一个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n×m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的矩阵，代表马到达某个点最少要走几步。不能到达则输出−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681165" y="69758"/>
            <a:ext cx="10454100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sz="32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32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6.14 </a:t>
            </a:r>
            <a:r>
              <a:rPr lang="zh-CN" altLang="en-US" sz="32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马的遍历  </a:t>
            </a:r>
            <a:r>
              <a:rPr lang="en-US" altLang="zh-CN" sz="2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https://www.luogu.com.cn/problem/P1443</a:t>
            </a:r>
            <a:endParaRPr lang="zh-CN" altLang="en-US" sz="24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634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440"/>
    </mc:Choice>
    <mc:Fallback xmlns="">
      <p:transition spd="slow" advTm="8044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t>45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21" name="内容占位符 2"/>
          <p:cNvSpPr txBox="1"/>
          <p:nvPr/>
        </p:nvSpPr>
        <p:spPr>
          <a:xfrm>
            <a:off x="-14585" y="1331310"/>
            <a:ext cx="2751075" cy="414644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马走日，从一个坐标点出发，下一步有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种走法。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dx[]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dy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定义下一步的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个方向。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代码的主体部分是标准的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，让每个点进出队列。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定义队列，队列元素是坐标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struct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node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dis[][]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记录最短路径长度，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dis[x][y]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是从起点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的最短路径长度。每扩散一层，路径长度就加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51116" y="38008"/>
            <a:ext cx="1139095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题解</a:t>
            </a:r>
            <a:endParaRPr lang="zh-CN" altLang="en-US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94606" y="-83215"/>
            <a:ext cx="10078530" cy="8956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&lt;bits/stdc++.h&gt;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struct node{int x,y;};         //定义坐标。左上角(1,1)，右下角(n,m)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const int dx[8]={2,1,-1,-2,-2,-1, 1, 2};  //8个方向，按顺时针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const int dy[8]={1,2, 2, 1,-1,-2,-2,-1};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dis[500][500];       //dis[x][y]: 起点到(x,y)的最短距离长度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vis[500][500];       //vis[x][y]=1: 已算出起点到坐标(x,y)的最短路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main(){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int n,m; node s;   cin&gt;&gt;n&gt;&gt;m&gt;&gt;s.x&gt;&gt;s.y;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memset(dis,-1,sizeof(dis));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dis[s.x][s.y]=0;                      //起点到自己的距离是0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vis[s.x][s.y]=1;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queue&lt;node&gt; q;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q.push(s);                            //起点进队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while(!q.empty()){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node now = q.front();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q.pop();                          //取队首并出队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for(int i=0;i&lt;8;i++) {            //下一步可以走8个方向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    node next;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	next.x=now.x+dx[i],next.y=now.y+dy[i];			if(next.x&lt;1||next.x&gt;n||next.y&lt;1||next.y&gt;m||vis[next.x][next.y])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continue;                 //出界或已经走过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    vis[next.x][next.y]=1;        //标记为已找到最短路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    dis[next.x][next.y]=dis[now.x][now.y]+1;  //计算最短路长度</a:t>
            </a:r>
          </a:p>
          <a:p>
            <a:endParaRPr lang="zh-CN" altLang="en-US" sz="16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    q.push(next);                 //进队列</a:t>
            </a:r>
          </a:p>
          <a:p>
            <a:endParaRPr lang="zh-CN" altLang="en-US" sz="16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}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}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for(int i=1;i&lt;=n;i++) {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for(int j=1;j&lt;=m;j++)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printf("%-5d",dis[i][j]);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printf("\n");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95653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440"/>
    </mc:Choice>
    <mc:Fallback xmlns="">
      <p:transition spd="slow" advTm="8044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904030" y="374900"/>
            <a:ext cx="7482545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4000" dirty="0"/>
              <a:t>7 BFS</a:t>
            </a:r>
            <a:r>
              <a:rPr lang="zh-CN" altLang="en-US" sz="4000" dirty="0"/>
              <a:t>判重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5909F0-64E2-491F-9959-C302AC3A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46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 useBgFill="1">
        <p:nvSpPr>
          <p:cNvPr id="5" name="内容占位符 4"/>
          <p:cNvSpPr txBox="1">
            <a:spLocks/>
          </p:cNvSpPr>
          <p:nvPr/>
        </p:nvSpPr>
        <p:spPr>
          <a:xfrm>
            <a:off x="1209440" y="1734041"/>
            <a:ext cx="9925825" cy="45811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 =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队列</a:t>
            </a:r>
          </a:p>
          <a:p>
            <a:pPr marL="447675" indent="-447675"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：逐步扩展下一层，把扩展出的下一层状态放进队列中处理。</a:t>
            </a:r>
          </a:p>
          <a:p>
            <a:pPr marL="447675" indent="-447675"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如果这些状态有相同的，只需搜一次，只需要进入队列一次。</a:t>
            </a:r>
          </a:p>
          <a:p>
            <a:pPr marL="447675" indent="-447675"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必须判重。</a:t>
            </a:r>
          </a:p>
        </p:txBody>
      </p:sp>
    </p:spTree>
    <p:extLst>
      <p:ext uri="{BB962C8B-B14F-4D97-AF65-F5344CB8AC3E}">
        <p14:creationId xmlns:p14="http://schemas.microsoft.com/office/powerpoint/2010/main" val="3420913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664"/>
    </mc:Choice>
    <mc:Fallback xmlns="">
      <p:transition spd="slow" advTm="50664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8620" y="413067"/>
            <a:ext cx="10515600" cy="1325563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6.15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：九宫重排 </a:t>
            </a:r>
            <a:r>
              <a:rPr lang="en-US" altLang="zh-CN" sz="32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LanqiaoOJ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261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85224" y="1596540"/>
            <a:ext cx="8551479" cy="4581150"/>
          </a:xfrm>
        </p:spPr>
        <p:txBody>
          <a:bodyPr>
            <a:noAutofit/>
          </a:bodyPr>
          <a:lstStyle/>
          <a:p>
            <a:pPr marL="0" indent="0" algn="just" fontAlgn="auto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问题描述：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下图的九宫格中，放着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1~8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的数字卡片，还有一个格子空着。与空格子相邻的格子中的卡片可以移动到空格中。经过若干次移动，可以形成右图所示的局面。         </a:t>
            </a:r>
          </a:p>
          <a:p>
            <a:pPr marL="0" indent="0" algn="just" fontAlgn="auto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把上图的局面记为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12345678.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，把下图局面记为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123.46758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。已知九宫初态和终态，求最少经过多少步移动可以到达，如果无法到达，输出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indent="0" algn="just" fontAlgn="auto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输入第一行包含九宫的初态，第二行包含九宫的终态。</a:t>
            </a:r>
          </a:p>
          <a:p>
            <a:pPr marL="0" indent="0" algn="just" fontAlgn="auto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输出最少步数。不能到达则输出−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3357808-7FE0-4D45-8421-FE4F8819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47</a:t>
            </a:fld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26" name="Picture 2" descr="C:\Users\ECUST\AppData\Local\Temp\ksohtml30404\wps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6330" y="1827032"/>
            <a:ext cx="1420750" cy="1420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ECUST\AppData\Local\Temp\ksohtml30404\wps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6330" y="3734410"/>
            <a:ext cx="1420750" cy="1420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64651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4160"/>
    </mc:Choice>
    <mc:Fallback xmlns="">
      <p:transition spd="slow" advTm="1341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8620" y="413067"/>
            <a:ext cx="10515600" cy="1325563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思路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51326" y="1564776"/>
            <a:ext cx="8704184" cy="4581150"/>
          </a:xfrm>
        </p:spPr>
        <p:txBody>
          <a:bodyPr>
            <a:noAutofit/>
          </a:bodyPr>
          <a:lstStyle/>
          <a:p>
            <a:pPr algn="just" fontAlgn="auto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题目求从初态到终态的最少步数，是典型的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最短路。</a:t>
            </a:r>
          </a:p>
          <a:p>
            <a:pPr algn="just" fontAlgn="auto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让卡片移动到空格比较麻烦，改为让空格上下左右移动，就简单多了。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空格的每一步移动，可能有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种新局面，如果按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种算，移动到第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步，就有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&gt; 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千万种局面，队列放不下。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不过，其实局面总数仅有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9!=362880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种，队列放得下，只要判重，不让重复的局面进入队列即可。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3357808-7FE0-4D45-8421-FE4F8819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48</a:t>
            </a:fld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" name="Picture 2" descr="C:\Users\ECUST\AppData\Local\Temp\ksohtml30404\wps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6330" y="1827032"/>
            <a:ext cx="1420750" cy="1420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C:\Users\ECUST\AppData\Local\Temp\ksohtml30404\wps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6330" y="3734410"/>
            <a:ext cx="1420750" cy="1420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1891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1296"/>
    </mc:Choice>
    <mc:Fallback xmlns="">
      <p:transition spd="slow" advTm="3012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5915" y="222195"/>
            <a:ext cx="3512215" cy="572653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STL map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判重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3357808-7FE0-4D45-8421-FE4F8819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49</a:t>
            </a:fld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3500014" y="69489"/>
            <a:ext cx="7482545" cy="656631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#include &lt;bits/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stdc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++.h&gt;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dx[] = {-1, 0, 1,  0};  //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上下左右四个方向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dy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[] = { 0, 1, 0, -1};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map &lt;</a:t>
            </a:r>
            <a:r>
              <a:rPr lang="en-US" altLang="zh-CN" sz="105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string,int</a:t>
            </a:r>
            <a:r>
              <a:rPr lang="en-US" altLang="zh-CN" sz="105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 </a:t>
            </a:r>
            <a:r>
              <a:rPr lang="en-US" altLang="zh-CN" sz="105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mp</a:t>
            </a:r>
            <a:r>
              <a:rPr lang="en-US" altLang="zh-CN" sz="105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bfs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(string s1,string s2){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queue&lt;string&gt;q;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q.push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(s1);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mp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[s1]=0;      //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mp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[s1]=0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表示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s1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s1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的步数是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。另外：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mp.count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(s1)=1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while(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q.size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()){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string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ss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q.front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q.pop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dist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mp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ss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];       //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从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s1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ss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的移动步数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if(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ss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==s2)  return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dist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; //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到达终点，返回步数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k=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ss.find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('.');      //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句点的位置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x=k/3,y=k%3;         //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句点坐标：第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行、第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列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for(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=0;i&lt;4;i++){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nx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x+dx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],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ny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y+dy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];  //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让句点上下左右移动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if(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nx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&lt;0 ||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ny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&lt;0 ||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nx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&gt;2 ||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ny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&gt;2) continue;  //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越界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string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ss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    swap(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[k],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nx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*3+ny]);  //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移动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105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if(</a:t>
            </a:r>
            <a:r>
              <a:rPr lang="en-US" altLang="zh-CN" sz="105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mp.count</a:t>
            </a:r>
            <a:r>
              <a:rPr lang="en-US" altLang="zh-CN" sz="105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05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r>
              <a:rPr lang="en-US" altLang="zh-CN" sz="105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)==0){   //</a:t>
            </a:r>
            <a:r>
              <a:rPr lang="zh-CN" altLang="en-US" sz="105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判重，如果</a:t>
            </a:r>
            <a:r>
              <a:rPr lang="en-US" altLang="zh-CN" sz="105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r>
              <a:rPr lang="zh-CN" altLang="en-US" sz="105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曾经处理过，就不再处理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mp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] = dist+1;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把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放进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map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，并赋值。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mp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等于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s1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的步数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q.push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return -1;                      //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没有找到终态局面，返回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main(){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string s1,s2;  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&gt;&gt;s1&gt;&gt;s2;    //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初态局面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s1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，终态局面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s2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bfs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(s1,s2);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105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3372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1296"/>
    </mc:Choice>
    <mc:Fallback xmlns="">
      <p:transition spd="slow" advTm="301296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5915" y="222195"/>
            <a:ext cx="3512215" cy="572653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STL set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判重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3357808-7FE0-4D45-8421-FE4F8819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50</a:t>
            </a:fld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3194606" y="69489"/>
            <a:ext cx="7787954" cy="656631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#include &lt;bits/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stdc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++.h&gt;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dx[] = {-1, 0, 1,  0};    //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上下左右四个方向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dy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[] = { 0, 1, 0, -1};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struct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node{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node(string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ss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tt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){s=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ss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, t=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tt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;}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string s;     //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局面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t;        //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到这个局面的步数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set &lt;string&gt; </a:t>
            </a:r>
            <a:r>
              <a:rPr lang="en-US" altLang="zh-CN" sz="105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</a:t>
            </a:r>
            <a:r>
              <a:rPr lang="en-US" altLang="zh-CN" sz="105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  //</a:t>
            </a:r>
            <a:r>
              <a:rPr lang="zh-CN" altLang="en-US" sz="105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</a:t>
            </a:r>
            <a:r>
              <a:rPr lang="en-US" altLang="zh-CN" sz="105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set </a:t>
            </a:r>
            <a:r>
              <a:rPr lang="en-US" altLang="zh-CN" sz="105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</a:t>
            </a:r>
            <a:r>
              <a:rPr lang="zh-CN" altLang="en-US" sz="105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判重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bfs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(string s1,string s2){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queue&lt;node&gt;q;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q.push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(node(s1,0));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st.insert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(s1);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while(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q.size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()){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node now =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q.front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q.pop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string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ss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now.s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dist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= now.t;         //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从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s1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ss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的移动步数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if(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ss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==s2)  return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dist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;  //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到达终点，返回步数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k=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ss.find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('.');       //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句点的位置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x=k/3,y=k%3;          //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句点坐标：第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行、第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列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for(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=0;i&lt;4;i++){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nx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x+dx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],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ny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y+dy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];          //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让句点上下左右移动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if(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nx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&lt;0 ||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ny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&lt;0 ||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nx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&gt;2 ||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ny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&gt;2) continue;  //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越界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string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ss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    swap(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[k],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nx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*3+ny]);  //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移动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5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105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if(</a:t>
            </a:r>
            <a:r>
              <a:rPr lang="en-US" altLang="zh-CN" sz="105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st.count</a:t>
            </a:r>
            <a:r>
              <a:rPr lang="en-US" altLang="zh-CN" sz="105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05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r>
              <a:rPr lang="en-US" altLang="zh-CN" sz="105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)==0){  //</a:t>
            </a:r>
            <a:r>
              <a:rPr lang="zh-CN" altLang="en-US" sz="105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判重，如果</a:t>
            </a:r>
            <a:r>
              <a:rPr lang="en-US" altLang="zh-CN" sz="105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r>
              <a:rPr lang="zh-CN" altLang="en-US" sz="105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曾经处理过，就不再处理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st.insert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q.push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(node(tmp,dist+1));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return -1;                      //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没有找到终态局面，返回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string s1,s2;  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&gt;&gt;s1&gt;&gt;s2;    //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初态局面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s1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，终态局面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s2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1050" dirty="0" err="1">
                <a:latin typeface="宋体" panose="02010600030101010101" pitchFamily="2" charset="-122"/>
                <a:ea typeface="宋体" panose="02010600030101010101" pitchFamily="2" charset="-122"/>
              </a:rPr>
              <a:t>bfs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(s1,s2);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7452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1296"/>
    </mc:Choice>
    <mc:Fallback xmlns="">
      <p:transition spd="slow" advTm="301296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751325" y="374900"/>
            <a:ext cx="9773120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3600" dirty="0"/>
              <a:t>8 BFS</a:t>
            </a:r>
            <a:r>
              <a:rPr lang="zh-CN" altLang="en-US" sz="3600" dirty="0"/>
              <a:t>例题</a:t>
            </a:r>
            <a:endParaRPr lang="en-US" altLang="zh-CN" sz="3600" dirty="0"/>
          </a:p>
          <a:p>
            <a:r>
              <a:rPr lang="zh-CN" altLang="en-US" sz="3600" dirty="0"/>
              <a:t>颜色平衡树 </a:t>
            </a:r>
            <a:r>
              <a:rPr lang="en-US" altLang="zh-CN" sz="3600" dirty="0" err="1"/>
              <a:t>lanqiaoOJ</a:t>
            </a:r>
            <a:r>
              <a:rPr lang="en-US" altLang="zh-CN" sz="3600" dirty="0"/>
              <a:t> 3504 </a:t>
            </a:r>
            <a:endParaRPr lang="zh-CN" altLang="en-US" sz="3600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5909F0-64E2-491F-9959-C302AC3A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51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461396" y="1414752"/>
            <a:ext cx="11300170" cy="45811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问题描述：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给定一棵树，结点由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至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编号，其中结点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是树根。树的每个点有一个颜色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。如果一棵树中存在的每种颜色的结点个数都相同，则我们称它是一棵颜色平衡树。求出这棵树中有多少个子树是颜色平衡树。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输入的第一行包含一个整数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，表示树的结点数。</a:t>
            </a:r>
          </a:p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接下来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行，每行包含两个整数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Ci, Fi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，用一个空格分隔，表示第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个结点的颜色和父亲结点编号。特别地，输入数据保证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，也即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号点没有父亲结点。保证输入数据是一棵树。 </a:t>
            </a:r>
          </a:p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输出一行包含一个整数表示答案。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1165" y="2360065"/>
            <a:ext cx="3067050" cy="204787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18093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7933"/>
    </mc:Choice>
    <mc:Fallback xmlns="">
      <p:transition spd="slow" advTm="1079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751325" y="222195"/>
            <a:ext cx="7482545" cy="5095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200" dirty="0"/>
              <a:t>题解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5909F0-64E2-491F-9959-C302AC3A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52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735700" y="985719"/>
            <a:ext cx="10552270" cy="53446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对每个结点，统计它所有子树的颜色，判断是否为颜色平衡树。计算复杂度是多少？对每个结点做一次计算，统计它子树的颜色，子树上有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O(n)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个子结点，计算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O(n)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次。一共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个结点，总计算量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O(n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，可以通过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60%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的测试。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都能实现，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的代码比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简单一些。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cnt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表示颜色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的数量。函数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遍历结点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的所有子结点，并统计它们的颜色，把颜色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的数量记录在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cnt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中。最后判断所有颜色的数量是否相等。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04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193"/>
    </mc:Choice>
    <mc:Fallback xmlns="">
      <p:transition spd="slow" advTm="99193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94D7-36C4-4E93-AE7A-0CAF6AF174FC}" type="slidenum">
              <a:rPr lang="zh-CN" altLang="en-US" smtClean="0"/>
              <a:pPr/>
              <a:t>53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1820260" y="-56775"/>
            <a:ext cx="8856890" cy="9941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&lt;bits/stdc++.h&gt;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const int N=2e5+10;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n;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cnt[N];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struct node{                 //定义结点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c,f;                 //颜色、父结点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vector&lt;int&gt;child;        //记录孩子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}t[N];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bool bfs(int x){             //判断x是否为颜色树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memset(cnt,0,sizeof cnt);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queue&lt;node&gt;q;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q.push(t[x]);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while(q.size()&gt;0){        //遍历结点x的子树，统计每个颜色的数量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node now = q.front();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q.pop();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cnt[now.c]++;             //统计颜色c的数量    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for(auto i: now.child)    //把结点now的孩子放进队列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q.push(t[i]);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num=0;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for(int i=1;i&lt;=5000;i++){           //可能有5000种颜色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if(num==0 &amp;&amp; cnt[i]&gt;0)    num = cnt[i];  //颜色i的数量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if(num&gt;0 &amp;&amp; cnt[i]&gt;0 &amp;&amp; cnt[i]!=num)     //颜色数量不等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return false;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true;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main(){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cin&gt;&gt;n;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for(int i=1;i&lt;=n;i++){        //存树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scanf("%d%d",&amp;t[i].c,&amp;t[i].f);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t[t[i].f].child.push_back(i);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ans = 0;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for(int i=1;i&lt;=n;i++)        //第i个结点是否为颜色树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if(bfs(i))    ans++;     //是颜色树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cout &lt;&lt; ans;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990411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751325" y="100199"/>
            <a:ext cx="10994760" cy="7328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200" dirty="0"/>
              <a:t>例题</a:t>
            </a:r>
            <a:r>
              <a:rPr lang="en-US" altLang="zh-CN" sz="3200" dirty="0"/>
              <a:t>6.17 </a:t>
            </a:r>
            <a:r>
              <a:rPr lang="zh-CN" altLang="en-US" sz="3200" dirty="0"/>
              <a:t>质数拼图游戏 </a:t>
            </a:r>
            <a:r>
              <a:rPr lang="en-US" altLang="zh-CN" sz="1800" dirty="0"/>
              <a:t>http://oj.ecustacm.cn/problem.php?id=1818 </a:t>
            </a:r>
            <a:endParaRPr lang="zh-CN" altLang="en-US" sz="1800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5909F0-64E2-491F-9959-C302AC3A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54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751325" y="985719"/>
            <a:ext cx="11300170" cy="533693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问题描述：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拼图游戏由一个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3×3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的棋盘和数字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1-9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组成。目标是达到以下最终状态：</a:t>
            </a:r>
          </a:p>
          <a:p>
            <a:pPr marL="0" indent="0" algn="just" fontAlgn="auto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1 2 3</a:t>
            </a:r>
          </a:p>
          <a:p>
            <a:pPr marL="0" indent="0" algn="just" fontAlgn="auto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4 5 6</a:t>
            </a:r>
          </a:p>
          <a:p>
            <a:pPr marL="0" indent="0" algn="just" fontAlgn="auto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7 8 9</a:t>
            </a:r>
          </a:p>
          <a:p>
            <a:pPr marL="0" indent="0" algn="just" fontAlgn="auto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每次如果相邻两个数字之和为质数，则可以进行交换。</a:t>
            </a:r>
          </a:p>
          <a:p>
            <a:pPr marL="0" indent="0" algn="just" fontAlgn="auto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相邻：上下左右四联通</a:t>
            </a:r>
          </a:p>
          <a:p>
            <a:pPr marL="0" indent="0" algn="just" fontAlgn="auto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给定一个棋盘初始状态，求到达最终状态的最短步数 。</a:t>
            </a:r>
          </a:p>
          <a:p>
            <a:pPr marL="0" indent="0" algn="just" fontAlgn="auto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第一行为正整数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，表示存在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组测试数据，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1≤T≤50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indent="0" algn="just" fontAlgn="auto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对于每组测试数据，输入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行，每行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个数字表示棋盘。输入保证合法，棋盘中的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个数字仅为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1-9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indent="0" algn="just" fontAlgn="auto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对于每组测试数据输出一个整数表示答案。如果无法到达最终状态，输出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1967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708"/>
    </mc:Choice>
    <mc:Fallback xmlns="">
      <p:transition spd="slow" advTm="89708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751325" y="222195"/>
            <a:ext cx="7482545" cy="5095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200" dirty="0"/>
              <a:t>题解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5909F0-64E2-491F-9959-C302AC3A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55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735700" y="985719"/>
            <a:ext cx="10552270" cy="53446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本题是典型的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最短路。把棋盘上的每种数字组合看成一个状态，求从初始态到最终态的最短路径的步数。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对一次单独的“初始态到终止态”计算，做一次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的复杂度等于棋盘状态的数量，一共有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9! = 362880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状态，总数量并不多。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但题目有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个测试，总计算量约为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50×362880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，超时。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一种优化是用双向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，本题的起点和终点都是确定的，正适合使用双向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795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2064"/>
    </mc:Choice>
    <mc:Fallback xmlns="">
      <p:transition spd="slow" advTm="1220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5909F0-64E2-491F-9959-C302AC3A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56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735700" y="985720"/>
            <a:ext cx="10552270" cy="45811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有更简单的做法。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本题需要做一个简单的转换。由于从任何初始态出发终止态都是固定的“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2 3 4 5 6 7 8 9”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，可以反过来，把终止态看成起点，把初始态看成终点，那么就是求一个固定起点到任意终点的最短路。只需做一次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，就能得到从起点到所有终点的最短路。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次测试，每个测试直接返回已经算出的结果即可。总计算量只是做一次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9!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1821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303"/>
    </mc:Choice>
    <mc:Fallback xmlns="">
      <p:transition spd="slow" advTm="1013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5909F0-64E2-491F-9959-C302AC3A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57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606384" y="1364960"/>
            <a:ext cx="10552270" cy="31329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题目需要判断相邻数的和是否为质数，可以写一个函数判断质数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刚简单的做法：本题的两数和范围是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~ 17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，非常少，只需用一个数组预存这些数字是否为质数即可。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“化方为线”的技巧：把二维的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3×3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棋盘化为一维的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个点，编程更简单。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9642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256"/>
    </mc:Choice>
    <mc:Fallback xmlns="">
      <p:transition spd="slow" advTm="982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94D7-36C4-4E93-AE7A-0CAF6AF174FC}" type="slidenum">
              <a:rPr lang="zh-CN" altLang="en-US" smtClean="0"/>
              <a:pPr/>
              <a:t>58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1820260" y="-56775"/>
            <a:ext cx="8856890" cy="9694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#include&lt;bits/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stdc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++.h&gt;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bool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isprime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[21] = 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{0,0,1,1,0,1,0,1,0,0,0,1,0,1,0,0,0,1,0,1,0};   //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和为质数的情况</a:t>
            </a:r>
          </a:p>
          <a:p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unordered_map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&lt;string,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ans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;//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unordered_map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查询单个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key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时效率比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map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高</a:t>
            </a:r>
          </a:p>
          <a:p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dir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[][2] = {1,0, 0,1};         //1,0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是向右，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0,1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是向下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bfs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(string s){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queue&lt;string&gt;q;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q.push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(s);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ans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[s] = 0;                                    //s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到自己的步数为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while(!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q.empty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 {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string Now =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q.front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q.pop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for(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0;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&lt;= 2;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                //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遍历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方向的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个数</a:t>
            </a:r>
          </a:p>
          <a:p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for(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j = 0; j &lt;= 2;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j++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  {        //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遍历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方向的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个数</a:t>
            </a:r>
          </a:p>
          <a:p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one =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* 3 + j;    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//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把二维坐标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i,j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转化为一维，例如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one=3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，就是第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排第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</a:p>
          <a:p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for(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k = 0; k &lt;= 1; k++){  //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与右边交换，与下面交换</a:t>
            </a:r>
          </a:p>
          <a:p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nx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+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dir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[k][0];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ny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j +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dir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[k][1];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if(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nx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== 3 ||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ny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== 3)  continue;     //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越界了</a:t>
            </a:r>
          </a:p>
          <a:p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two =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nx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* 3 +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ny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if(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isprime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[Now[one]-'0' + Now[two]-'0']) { 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          //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相邻数之和是质数</a:t>
            </a:r>
          </a:p>
          <a:p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string Next = Now;          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swap(Next[one], Next[two]);       //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交换相邻数</a:t>
            </a:r>
          </a:p>
          <a:p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if(!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ans.count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(Next)) { //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ans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map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，用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map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判重</a:t>
            </a:r>
          </a:p>
          <a:p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ans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[Next] =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ans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[Now] + 1;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q.push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(Next);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}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}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}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}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main(){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string s = "123456789";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bfs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(s);                      //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到其它所有状态的最短路长度</a:t>
            </a:r>
          </a:p>
          <a:p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0;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T;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T;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while(T--) {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string now = "";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for(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1;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&lt;= 3;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for(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j = 1; j &lt;= 3;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j++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 {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char c; 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c;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now += c;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}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if(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ans.count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(now))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ans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[now]&lt;&lt;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else              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&lt;&lt;-1&lt;&lt;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830372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DCBB3D8-AE1A-4351-BDEB-2B350E4B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59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EAF4A88-1FFA-45E9-B118-25E5F215F1C3}"/>
              </a:ext>
            </a:extLst>
          </p:cNvPr>
          <p:cNvSpPr/>
          <p:nvPr/>
        </p:nvSpPr>
        <p:spPr>
          <a:xfrm>
            <a:off x="792850" y="1291130"/>
            <a:ext cx="10495120" cy="1689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DFS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BFS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：标志参赛者进入了算法竞赛的初级阶段。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搜索是计算机科学中最基础的技术，从它们衍生出了很多算法和数据结构。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28CEA2-1A0A-4C45-6E28-749B7736EC50}"/>
              </a:ext>
            </a:extLst>
          </p:cNvPr>
          <p:cNvSpPr txBox="1">
            <a:spLocks noChangeArrowheads="1"/>
          </p:cNvSpPr>
          <p:nvPr/>
        </p:nvSpPr>
        <p:spPr>
          <a:xfrm>
            <a:off x="555330" y="251923"/>
            <a:ext cx="9773120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3600" dirty="0"/>
              <a:t>9 </a:t>
            </a:r>
            <a:r>
              <a:rPr lang="zh-CN" altLang="en-US" sz="3600" dirty="0"/>
              <a:t>扩展学习</a:t>
            </a:r>
            <a:r>
              <a:rPr lang="en-US" altLang="zh-CN" sz="3600" dirty="0"/>
              <a:t> </a:t>
            </a:r>
            <a:endParaRPr lang="zh-CN" altLang="en-US" sz="3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7F5069-E134-6FAA-778C-8259E15EDA1F}"/>
              </a:ext>
            </a:extLst>
          </p:cNvPr>
          <p:cNvSpPr/>
          <p:nvPr/>
        </p:nvSpPr>
        <p:spPr>
          <a:xfrm>
            <a:off x="792850" y="3778710"/>
            <a:ext cx="104951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还有一些与搜索有关的扩展知识：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中级：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双向广搜、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BFS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与优先队列、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BFS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与双端队列、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IDDFS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IDA*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高级：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A*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算法。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3068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113"/>
    </mc:Choice>
    <mc:Fallback xmlns="">
      <p:transition spd="slow" advTm="82113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DCBB3D8-AE1A-4351-BDEB-2B350E4B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  <a:pPr/>
              <a:t>60</a:t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EAF4A88-1FFA-45E9-B118-25E5F215F1C3}"/>
              </a:ext>
            </a:extLst>
          </p:cNvPr>
          <p:cNvSpPr/>
          <p:nvPr/>
        </p:nvSpPr>
        <p:spPr>
          <a:xfrm>
            <a:off x="792850" y="1291130"/>
            <a:ext cx="104951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还有一些与搜索有关的扩展知识：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中级：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双向广搜、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BFS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与优先队列、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BFS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与双端队列、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IDDFS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IDA*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高级：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A*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算法。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0555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295"/>
    </mc:Choice>
    <mc:Fallback xmlns="">
      <p:transition spd="slow" advTm="40295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6|3.8|5.9|7.8|2.2|5.5|1.1|0.3|0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5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5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4.7|33.8|32.6|10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0.3|12|26.2|32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5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6.7|52.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2|41.6|3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2|26.2|17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2|41.6|3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9.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8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|36|152.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|36|152.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|36|152.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6.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0.3|12|26.2|32.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4.7|33.8|32.6|10.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|65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3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3|54.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8|22.4"/>
</p:tagLst>
</file>

<file path=ppt/theme/theme1.xml><?xml version="1.0" encoding="utf-8"?>
<a:theme xmlns:a="http://schemas.openxmlformats.org/drawingml/2006/main" name="SEG组PPT主题">
  <a:themeElements>
    <a:clrScheme name="SEG组PPT主题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SEG组PPT主题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tx1">
              <a:gamma/>
              <a:shade val="60000"/>
              <a:invGamma/>
            </a:schemeClr>
          </a:prst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utigerNext LT Regular" pitchFamily="34" charset="0"/>
            <a:ea typeface="MS PGothic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tx1">
              <a:gamma/>
              <a:shade val="60000"/>
              <a:invGamma/>
            </a:schemeClr>
          </a:prst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utigerNext LT Regular" pitchFamily="34" charset="0"/>
            <a:ea typeface="MS PGothic" panose="020B0600070205080204" pitchFamily="34" charset="-128"/>
          </a:defRPr>
        </a:defPPr>
      </a:lstStyle>
    </a:lnDef>
  </a:objectDefaults>
  <a:extraClrSchemeLst>
    <a:extraClrScheme>
      <a:clrScheme name="SEG组PPT主题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G组PPT主题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G组PPT主题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G组PPT主题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G组PPT主题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G组PPT主题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G组PPT主题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G组PPT主题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EG组PPT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8707</TotalTime>
  <Words>8878</Words>
  <Application>Microsoft Office PowerPoint</Application>
  <PresentationFormat>宽屏</PresentationFormat>
  <Paragraphs>732</Paragraphs>
  <Slides>60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73" baseType="lpstr">
      <vt:lpstr>FrutigerNext LT Regular</vt:lpstr>
      <vt:lpstr>华文新魏</vt:lpstr>
      <vt:lpstr>楷体_GB2312</vt:lpstr>
      <vt:lpstr>宋体</vt:lpstr>
      <vt:lpstr>微软雅黑</vt:lpstr>
      <vt:lpstr>Arial</vt:lpstr>
      <vt:lpstr>Calibri</vt:lpstr>
      <vt:lpstr>Calibri Light</vt:lpstr>
      <vt:lpstr>Times New Roman</vt:lpstr>
      <vt:lpstr>Wingdings</vt:lpstr>
      <vt:lpstr>SEG组PPT主题</vt:lpstr>
      <vt:lpstr>1_SEG组PPT主题</vt:lpstr>
      <vt:lpstr>Visio</vt:lpstr>
      <vt:lpstr>PowerPoint 演示文稿</vt:lpstr>
      <vt:lpstr>PowerPoint 演示文稿</vt:lpstr>
      <vt:lpstr>PowerPoint 演示文稿</vt:lpstr>
      <vt:lpstr>PowerPoint 演示文稿</vt:lpstr>
      <vt:lpstr>搜索的基本思路</vt:lpstr>
      <vt:lpstr>BFS：一群老鼠走迷宫</vt:lpstr>
      <vt:lpstr>BFS访问示例</vt:lpstr>
      <vt:lpstr>DFS：一只老鼠走迷宫</vt:lpstr>
      <vt:lpstr>DFS访问示例</vt:lpstr>
      <vt:lpstr>DFS代码框架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BFS：一群老鼠走迷宫</vt:lpstr>
      <vt:lpstr>BFS访问示例</vt:lpstr>
      <vt:lpstr>BFS基本代码</vt:lpstr>
      <vt:lpstr>BFS基本代码</vt:lpstr>
      <vt:lpstr>PowerPoint 演示文稿</vt:lpstr>
      <vt:lpstr>BFS遍历二叉树的复杂度</vt:lpstr>
      <vt:lpstr>6 BFS与最短路径</vt:lpstr>
      <vt:lpstr>PowerPoint 演示文稿</vt:lpstr>
      <vt:lpstr>PowerPoint 演示文稿</vt:lpstr>
      <vt:lpstr>最短路径问题：BFS的应用场合</vt:lpstr>
      <vt:lpstr>PowerPoint 演示文稿</vt:lpstr>
      <vt:lpstr>PowerPoint 演示文稿</vt:lpstr>
      <vt:lpstr>PowerPoint 演示文稿</vt:lpstr>
      <vt:lpstr>例题6.15：九宫重排 LanqiaoOJ 261</vt:lpstr>
      <vt:lpstr>思路</vt:lpstr>
      <vt:lpstr>用STL map判重</vt:lpstr>
      <vt:lpstr>用STL set判重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文汇讲堂</dc:title>
  <dc:creator>Yu Huiqun</dc:creator>
  <cp:lastModifiedBy>dapeng qu</cp:lastModifiedBy>
  <cp:revision>1681</cp:revision>
  <dcterms:created xsi:type="dcterms:W3CDTF">2010-12-08T03:59:00Z</dcterms:created>
  <dcterms:modified xsi:type="dcterms:W3CDTF">2025-02-11T14:25:59Z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s_pID_725343">
    <vt:lpwstr>(3)eeY/EcjdW6+ICzVnm3/r6/xAl5lvhgvoAokwoBfZcPbL/5MtFRy5/qhHgCA4lB96tzj/Eytq
2NHJUUpWB2kMJ1NMlUJXhM5imLm4kyR3hZMBHv5FhT+IILvlUjuubbnZofkHoPU5fqYwynM4
ffEg5Eg4dQmaZorSYJ79TwvCgROY8gA232YiGQhhOoqKytLwLVbftsELLz1taQRfm5DZZji8
fXS+ORyvTVociYWKeX4TI</vt:lpwstr>
  </property>
  <property fmtid="{D5CDD505-2E9C-101B-9397-08002B2CF9AE}" pid="3" name="_ms_pID_7253431">
    <vt:lpwstr>HUv1HtLxkSgu+98Cci+sTM4mwpB4bnywtNgU0ZXCLU5E9az15Zl
yQ+eMRQT6rINdTXZYKuXlBrl3xhjVO/TULD0SzKnhjeDwt9CUpkpZKnkY8Eegftln4wJUDcS
wX1CZLvRfEb0iLB1QGG0ZNeX/u6ClzdlEOpMOHoov8h76URZeNq1mMQHPAv+/lT0BsL9aW0f
3CbqVo3pzNFkiUPIFF+OwWX00US6EDgYi2lm8LbPy4</vt:lpwstr>
  </property>
  <property fmtid="{D5CDD505-2E9C-101B-9397-08002B2CF9AE}" pid="4" name="_ms_pID_7253432">
    <vt:lpwstr>mqJPV5t2H+8EpfGZFx1xT4THFS1pBY
wcCmxD8BzMZr4El3AUiTOWBkAaTGMRJpKRRCImbmfYmYporODfRBVhilSzPe24aL1+wdJY5z</vt:lpwstr>
  </property>
  <property fmtid="{D5CDD505-2E9C-101B-9397-08002B2CF9AE}" pid="5" name="sflag">
    <vt:lpwstr>1309221052</vt:lpwstr>
  </property>
  <property fmtid="{D5CDD505-2E9C-101B-9397-08002B2CF9AE}" pid="6" name="KSORubyTemplateID">
    <vt:lpwstr>8</vt:lpwstr>
  </property>
  <property fmtid="{D5CDD505-2E9C-101B-9397-08002B2CF9AE}" pid="7" name="KSOProductBuildVer">
    <vt:lpwstr>2052-10.1.0.7469</vt:lpwstr>
  </property>
</Properties>
</file>
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9" r:id="rId2"/>
    <p:sldId id="261" r:id="rId3"/>
    <p:sldId id="311" r:id="rId4"/>
    <p:sldId id="260" r:id="rId5"/>
    <p:sldId id="315" r:id="rId6"/>
    <p:sldId id="298" r:id="rId7"/>
    <p:sldId id="322" r:id="rId8"/>
    <p:sldId id="312" r:id="rId9"/>
    <p:sldId id="323" r:id="rId10"/>
    <p:sldId id="297" r:id="rId11"/>
    <p:sldId id="318" r:id="rId12"/>
    <p:sldId id="320" r:id="rId13"/>
    <p:sldId id="321" r:id="rId14"/>
    <p:sldId id="319" r:id="rId15"/>
    <p:sldId id="316" r:id="rId16"/>
    <p:sldId id="313" r:id="rId17"/>
    <p:sldId id="314" r:id="rId18"/>
    <p:sldId id="317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2FF"/>
    <a:srgbClr val="00FF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主题样式 2 - 强调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56" d="100"/>
          <a:sy n="56" d="100"/>
        </p:scale>
        <p:origin x="64" y="104"/>
      </p:cViewPr>
      <p:guideLst/>
    </p:cSldViewPr>
  </p:slideViewPr>
  <p:notesTextViewPr>
    <p:cViewPr>
      <p:scale>
        <a:sx n="70" d="100"/>
        <a:sy n="7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46BC0E-3D9E-AD47-A71F-225F1F3A3655}" type="datetimeFigureOut">
              <a:rPr kumimoji="1" lang="zh-CN" altLang="en-US" smtClean="0"/>
              <a:t>2024/7/21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D56B20-EAE6-AD49-B531-D228C4479B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852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03FE80-F007-0549-B04E-00A7E591FA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6410" y="2412476"/>
            <a:ext cx="6685280" cy="1881863"/>
          </a:xfrm>
        </p:spPr>
        <p:txBody>
          <a:bodyPr anchor="b"/>
          <a:lstStyle>
            <a:lvl1pPr algn="l">
              <a:defRPr sz="6000" b="1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1A7B790-F972-BCB8-6F4A-CA14E6B6B2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358782" y="247539"/>
            <a:ext cx="2363414" cy="78658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E51ED99-06D8-08E8-3419-762B0BE6036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0316" y="1694325"/>
            <a:ext cx="5265683" cy="459095"/>
          </a:xfrm>
          <a:prstGeom prst="rect">
            <a:avLst/>
          </a:prstGeom>
        </p:spPr>
      </p:pic>
      <p:pic>
        <p:nvPicPr>
          <p:cNvPr id="11" name="图片 10" descr="卡通画&#10;&#10;描述已自动生成">
            <a:extLst>
              <a:ext uri="{FF2B5EF4-FFF2-40B4-BE49-F238E27FC236}">
                <a16:creationId xmlns:a16="http://schemas.microsoft.com/office/drawing/2014/main" id="{9E35002B-EC7A-FF51-E4D8-590DC6FFCFB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42512" y="380497"/>
            <a:ext cx="1422619" cy="17102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51AF667-89E6-E14A-9C76-74C28E4E66A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924612" y="6461479"/>
            <a:ext cx="1922736" cy="187515"/>
          </a:xfrm>
          <a:prstGeom prst="rect">
            <a:avLst/>
          </a:prstGeom>
        </p:spPr>
      </p:pic>
      <p:pic>
        <p:nvPicPr>
          <p:cNvPr id="15" name="图片 14" descr="图片包含 图形用户界面&#10;&#10;描述已自动生成">
            <a:extLst>
              <a:ext uri="{FF2B5EF4-FFF2-40B4-BE49-F238E27FC236}">
                <a16:creationId xmlns:a16="http://schemas.microsoft.com/office/drawing/2014/main" id="{AA8CC907-6ED5-A6B4-2DC4-967D4D12705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991690" y="1595438"/>
            <a:ext cx="4921033" cy="4066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323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5E75CE-1932-724E-80C0-FAEB33FBC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326339-EF9D-F445-B1D9-1E67239BB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41A103-E975-7049-A021-7291CD8BE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DEA61-FD7F-7E42-8996-47F2197A2754}" type="datetimeFigureOut">
              <a:rPr kumimoji="1" lang="zh-CN" altLang="en-US" smtClean="0"/>
              <a:t>2024/7/21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3A1269-8BA8-D746-98F9-CD6254EC9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176056-4DA2-2E4F-A681-8AB016B22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5192-C2CB-BC47-9292-64A93959DFA5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8" name="图片 7" descr="图标&#10;&#10;描述已自动生成">
            <a:extLst>
              <a:ext uri="{FF2B5EF4-FFF2-40B4-BE49-F238E27FC236}">
                <a16:creationId xmlns:a16="http://schemas.microsoft.com/office/drawing/2014/main" id="{1110583F-9F3B-706C-B3C8-B065A90EFF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9391" y="754856"/>
            <a:ext cx="546100" cy="54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885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B0E8CF-8957-BA41-93F5-A7432EB02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0FDA73-E3E1-7D4A-93DD-F795B97AB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005A51-588C-FD41-BE26-11B5455C9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DEA61-FD7F-7E42-8996-47F2197A2754}" type="datetimeFigureOut">
              <a:rPr kumimoji="1" lang="zh-CN" altLang="en-US" smtClean="0"/>
              <a:t>2024/7/21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9D4BEC-04F2-0545-8673-9CABEEA41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31CA31-82E8-8D47-8E27-FB56D9903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5192-C2CB-BC47-9292-64A93959DF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0852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C3F3F6-92DC-F048-B129-77967C741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F13D74-A128-F246-A2C3-FA3BD5269C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8EA059B-890E-A145-B88D-F6B9D12401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81BCB7-9F42-BF4C-BABD-5E56F2E83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DEA61-FD7F-7E42-8996-47F2197A2754}" type="datetimeFigureOut">
              <a:rPr kumimoji="1" lang="zh-CN" altLang="en-US" smtClean="0"/>
              <a:t>2024/7/21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76A82C-851D-1B4B-A734-FD05DAF3B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5B2885-4F24-D94A-8A97-391BC5199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5192-C2CB-BC47-9292-64A93959DF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19600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019E4E-46B5-3B45-8DA4-D1D34B08E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1A9633-FA0D-B44B-A177-A2CBE220A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9C6536C-6536-6040-9D60-F6D276B70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3EBC514-62AE-0447-84DF-AB11DB2C4B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1AF9E8A-0D96-3249-9355-ABF0602D65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1B85C5D-ADC9-0144-BE92-FDC350286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DEA61-FD7F-7E42-8996-47F2197A2754}" type="datetimeFigureOut">
              <a:rPr kumimoji="1" lang="zh-CN" altLang="en-US" smtClean="0"/>
              <a:t>2024/7/21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5904610-EEE0-3A4C-A141-9856787E3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E5AE534-B270-E94E-ADC3-71B95CD01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5192-C2CB-BC47-9292-64A93959DF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72903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D6828D-C7FA-6D44-8091-37E869387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B66CA88-8A7E-7049-9D5E-9418803FD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DEA61-FD7F-7E42-8996-47F2197A2754}" type="datetimeFigureOut">
              <a:rPr kumimoji="1" lang="zh-CN" altLang="en-US" smtClean="0"/>
              <a:t>2024/7/21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10A43C4-786D-1041-B770-CB0B2C795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2B44DB-3556-7F47-A1AF-47FCEB74C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5192-C2CB-BC47-9292-64A93959DF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83968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62A8D6D-9947-974A-96CE-1AB8A1A42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DEA61-FD7F-7E42-8996-47F2197A2754}" type="datetimeFigureOut">
              <a:rPr kumimoji="1" lang="zh-CN" altLang="en-US" smtClean="0"/>
              <a:t>2024/7/21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01238C9-9B18-C54A-A670-4F1F89DB1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D2E43D-2F7B-8442-BC3E-04F2BD555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5192-C2CB-BC47-9292-64A93959DF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1984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40EE50-AA0C-1C4D-89F2-E5E7222C9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EC1718-1B85-8C41-9056-80B26F8F1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591A487-E135-3E40-82B2-2AB952CC0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A29C69-81B1-B540-884E-55FB474B0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DEA61-FD7F-7E42-8996-47F2197A2754}" type="datetimeFigureOut">
              <a:rPr kumimoji="1" lang="zh-CN" altLang="en-US" smtClean="0"/>
              <a:t>2024/7/21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4EFF6D-063D-2246-B9CE-EF8FABB47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5C1A372-1EEA-3E43-8EFF-2D7EE85AB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5192-C2CB-BC47-9292-64A93959DF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9037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39EC9B-407C-504F-BF6B-0D8911518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24DAF8F-1350-2342-BB8B-7FA3B67E62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FF0B8C0-F262-A143-9821-1B46872BF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5EFAE1-7081-3C48-9A37-AADA14DCE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DEA61-FD7F-7E42-8996-47F2197A2754}" type="datetimeFigureOut">
              <a:rPr kumimoji="1" lang="zh-CN" altLang="en-US" smtClean="0"/>
              <a:t>2024/7/21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ECD4C2C-E379-B54F-86B5-F4B9DB4CB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835633-04C4-EC4A-99B9-C1F5240C2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5192-C2CB-BC47-9292-64A93959DF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21240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10EF46-D5F3-264B-9C50-F96E90B5C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1183B1-DAD1-A84F-8827-571999DD17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DE549A-BDCA-3A41-8082-15AA423CA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DEA61-FD7F-7E42-8996-47F2197A2754}" type="datetimeFigureOut">
              <a:rPr kumimoji="1" lang="zh-CN" altLang="en-US" smtClean="0"/>
              <a:t>2024/7/21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10211C-0490-F047-8270-08CF89DE2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AD1EB6-34D9-4B4E-882E-5AAF7EE81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5192-C2CB-BC47-9292-64A93959DF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45099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6BD810C-2B70-AF46-960B-1C516278B1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908CE3B-62EF-7B41-959B-1FFB10C085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6938F5-095D-2240-9CAF-9DB95F449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DEA61-FD7F-7E42-8996-47F2197A2754}" type="datetimeFigureOut">
              <a:rPr kumimoji="1" lang="zh-CN" altLang="en-US" smtClean="0"/>
              <a:t>2024/7/21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F882B9-BA91-5A4A-AB28-538B73705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A61C61-3E97-664C-9434-B8DDE8418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5192-C2CB-BC47-9292-64A93959DF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35126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电脑萤幕&#10;&#10;低可信度描述已自动生成">
            <a:extLst>
              <a:ext uri="{FF2B5EF4-FFF2-40B4-BE49-F238E27FC236}">
                <a16:creationId xmlns:a16="http://schemas.microsoft.com/office/drawing/2014/main" id="{8B360BF0-E85A-3123-FE57-428861D555B0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">
                <a:srgbClr val="00FFAB"/>
              </a:gs>
              <a:gs pos="100000">
                <a:srgbClr val="00B2FF"/>
              </a:gs>
            </a:gsLst>
            <a:lin ang="3600000" scaled="0"/>
          </a:gradFill>
        </p:spPr>
      </p:pic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97A6F01-3646-134B-9875-7EDD795E5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8E77E2-C9AC-8547-BD61-8980F6514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BA9883-2DF6-1B4E-9229-BA94F1192F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2DEA61-FD7F-7E42-8996-47F2197A2754}" type="datetimeFigureOut">
              <a:rPr kumimoji="1" lang="zh-CN" altLang="en-US" smtClean="0"/>
              <a:t>2024/7/21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6B74DE-6864-C442-A2D2-9F56667D20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F89B61-871D-C24A-953F-603145740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3B5192-C2CB-BC47-9292-64A93959DFA5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5D15618-98B1-AA4F-90ED-DECD0C962F51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329908" y="451662"/>
            <a:ext cx="1517440" cy="14600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92E9478-BB68-576A-51E5-0F174F577C0F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rcRect/>
          <a:stretch/>
        </p:blipFill>
        <p:spPr>
          <a:xfrm>
            <a:off x="10023182" y="6215377"/>
            <a:ext cx="1719992" cy="572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399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思源黑体 Normal" panose="020B0400000000000000" pitchFamily="34" charset="-128"/>
          <a:ea typeface="思源黑体 Normal" panose="020B0400000000000000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思源黑体 Normal" panose="020B0400000000000000" pitchFamily="34" charset="-128"/>
          <a:ea typeface="思源黑体 Normal" panose="020B0400000000000000" pitchFamily="34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思源黑体 Normal" panose="020B0400000000000000" pitchFamily="34" charset="-128"/>
          <a:ea typeface="思源黑体 Normal" panose="020B0400000000000000" pitchFamily="34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思源黑体 Normal" panose="020B0400000000000000" pitchFamily="34" charset="-128"/>
          <a:ea typeface="思源黑体 Normal" panose="020B0400000000000000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思源黑体 Normal" panose="020B0400000000000000" pitchFamily="34" charset="-128"/>
          <a:ea typeface="思源黑体 Normal" panose="020B0400000000000000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思源黑体 Normal" panose="020B0400000000000000" pitchFamily="34" charset="-128"/>
          <a:ea typeface="思源黑体 Normal" panose="020B0400000000000000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CC76EB-C3F7-50E0-0A65-1319D8C14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6410" y="2242458"/>
            <a:ext cx="6685280" cy="2051882"/>
          </a:xfrm>
        </p:spPr>
        <p:txBody>
          <a:bodyPr>
            <a:normAutofit/>
          </a:bodyPr>
          <a:lstStyle/>
          <a:p>
            <a:r>
              <a:rPr lang="en-US" altLang="zh-CN" sz="6000" dirty="0">
                <a:solidFill>
                  <a:schemeClr val="bg1"/>
                </a:solidFill>
              </a:rPr>
              <a:t>2024</a:t>
            </a:r>
            <a:r>
              <a:rPr lang="zh-CN" altLang="en-US" sz="6000" dirty="0">
                <a:solidFill>
                  <a:schemeClr val="bg1"/>
                </a:solidFill>
              </a:rPr>
              <a:t>牛客</a:t>
            </a:r>
            <a:r>
              <a:rPr lang="zh-CN" altLang="en-US" dirty="0"/>
              <a:t>暑假</a:t>
            </a:r>
            <a:br>
              <a:rPr lang="en-US" altLang="zh-CN" sz="6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</a:br>
            <a:r>
              <a:rPr lang="zh-CN" altLang="en-US" sz="7200" b="1" dirty="0">
                <a:solidFill>
                  <a:schemeClr val="bg1"/>
                </a:solidFill>
              </a:rPr>
              <a:t>多校</a:t>
            </a:r>
            <a:r>
              <a:rPr lang="en-US" altLang="zh-CN" sz="7200" b="1" dirty="0">
                <a:solidFill>
                  <a:schemeClr val="bg1"/>
                </a:solidFill>
              </a:rPr>
              <a:t>——</a:t>
            </a:r>
            <a:r>
              <a:rPr lang="zh-CN" altLang="en-US" sz="7200" b="1" dirty="0">
                <a:solidFill>
                  <a:schemeClr val="bg1"/>
                </a:solidFill>
              </a:rPr>
              <a:t>第二场</a:t>
            </a:r>
            <a:endParaRPr lang="zh-CN" altLang="en-US" dirty="0"/>
          </a:p>
        </p:txBody>
      </p:sp>
      <p:sp>
        <p:nvSpPr>
          <p:cNvPr id="16" name="圆角矩形 32">
            <a:extLst>
              <a:ext uri="{FF2B5EF4-FFF2-40B4-BE49-F238E27FC236}">
                <a16:creationId xmlns:a16="http://schemas.microsoft.com/office/drawing/2014/main" id="{2B62A56C-133E-BF0A-D1EE-C41E6877B0AA}"/>
              </a:ext>
            </a:extLst>
          </p:cNvPr>
          <p:cNvSpPr/>
          <p:nvPr/>
        </p:nvSpPr>
        <p:spPr>
          <a:xfrm>
            <a:off x="1807223" y="4460065"/>
            <a:ext cx="1926578" cy="613460"/>
          </a:xfrm>
          <a:prstGeom prst="roundRect">
            <a:avLst/>
          </a:prstGeom>
          <a:gradFill>
            <a:gsLst>
              <a:gs pos="1000">
                <a:srgbClr val="00FFAB"/>
              </a:gs>
              <a:gs pos="100000">
                <a:srgbClr val="00B2FF"/>
              </a:gs>
            </a:gsLst>
            <a:lin ang="36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800" dirty="0">
                <a:solidFill>
                  <a:schemeClr val="bg2">
                    <a:lumMod val="25000"/>
                  </a:schemeClr>
                </a:solidFill>
                <a:latin typeface="思源黑体 Normal" panose="020B0400000000000000" pitchFamily="34" charset="-128"/>
                <a:ea typeface="思源黑体 Normal" panose="020B0400000000000000" pitchFamily="34" charset="-128"/>
              </a:rPr>
              <a:t>邓丝雨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1C8E3EC-1FC7-6F35-C413-58E88C031614}"/>
              </a:ext>
            </a:extLst>
          </p:cNvPr>
          <p:cNvSpPr txBox="1"/>
          <p:nvPr/>
        </p:nvSpPr>
        <p:spPr>
          <a:xfrm>
            <a:off x="533399" y="5868182"/>
            <a:ext cx="59000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思源黑体 Normal" panose="020B0400000000000000" pitchFamily="34" charset="-128"/>
                <a:ea typeface="思源黑体 Normal" panose="020B0400000000000000" pitchFamily="34" charset="-128"/>
              </a:rPr>
              <a:t>讲题顺序：</a:t>
            </a:r>
            <a:r>
              <a:rPr lang="en-US" altLang="zh-CN" sz="2800" dirty="0">
                <a:solidFill>
                  <a:schemeClr val="bg1"/>
                </a:solidFill>
                <a:latin typeface="思源黑体 Normal" panose="020B0400000000000000" pitchFamily="34" charset="-128"/>
                <a:ea typeface="思源黑体 Normal" panose="020B0400000000000000" pitchFamily="34" charset="-128"/>
              </a:rPr>
              <a:t>ECHBIA G</a:t>
            </a:r>
            <a:endParaRPr lang="zh-CN" altLang="en-US" sz="2800" dirty="0">
              <a:solidFill>
                <a:schemeClr val="bg1"/>
              </a:solidFill>
              <a:latin typeface="思源黑体 Normal" panose="020B0400000000000000" pitchFamily="34" charset="-128"/>
              <a:ea typeface="思源黑体 Normal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46519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95751C-D8E4-2CDD-8889-1C5A35E08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E-	GCD VS XOR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B74676-9F39-A1F4-3333-DB0F5D9A1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给定 </a:t>
            </a:r>
            <a:r>
              <a:rPr lang="en-US" altLang="zh-CN" dirty="0"/>
              <a:t>x</a:t>
            </a:r>
            <a:r>
              <a:rPr lang="zh-CN" altLang="en-US" dirty="0"/>
              <a:t>，构造 </a:t>
            </a:r>
            <a:r>
              <a:rPr lang="en-US" altLang="zh-CN" dirty="0"/>
              <a:t>y &lt; x </a:t>
            </a:r>
            <a:r>
              <a:rPr lang="zh-CN" altLang="en-US" dirty="0"/>
              <a:t>使得 </a:t>
            </a:r>
            <a:r>
              <a:rPr lang="en-US" altLang="zh-CN" dirty="0" err="1"/>
              <a:t>gcd</a:t>
            </a:r>
            <a:r>
              <a:rPr lang="en-US" altLang="zh-CN" dirty="0"/>
              <a:t>(x, y) = x ⊕ y</a:t>
            </a:r>
          </a:p>
          <a:p>
            <a:r>
              <a:rPr lang="en-US" altLang="zh-CN" dirty="0"/>
              <a:t>1 ≤ x ≤ 10^18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8274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F544EB-5B09-B650-A8C8-20B9F9E53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C-Red Walking on Grid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FE217F-69AA-04CC-0758-C2B852192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给定一个 </a:t>
            </a:r>
            <a:r>
              <a:rPr lang="en-US" altLang="zh-CN" dirty="0"/>
              <a:t>2 </a:t>
            </a:r>
            <a:r>
              <a:rPr lang="zh-CN" altLang="en-US" dirty="0"/>
              <a:t>行 </a:t>
            </a:r>
            <a:r>
              <a:rPr lang="en-US" altLang="zh-CN" dirty="0"/>
              <a:t>n </a:t>
            </a:r>
            <a:r>
              <a:rPr lang="zh-CN" altLang="en-US" dirty="0"/>
              <a:t>列的地图，有一些格子为障碍</a:t>
            </a:r>
          </a:p>
          <a:p>
            <a:r>
              <a:rPr lang="zh-CN" altLang="en-US" dirty="0"/>
              <a:t>任选起点，每个格子最多只能走一次（不能走到障碍），求最长路径</a:t>
            </a:r>
          </a:p>
          <a:p>
            <a:r>
              <a:rPr lang="en-US" altLang="zh-CN" dirty="0"/>
              <a:t>1 ≤ n ≤ 10^6</a:t>
            </a:r>
            <a:endParaRPr lang="zh-CN" alt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CBE631F8-B112-2165-162C-8197A315C3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9660073"/>
              </p:ext>
            </p:extLst>
          </p:nvPr>
        </p:nvGraphicFramePr>
        <p:xfrm>
          <a:off x="952500" y="4001294"/>
          <a:ext cx="8294370" cy="9404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9437">
                  <a:extLst>
                    <a:ext uri="{9D8B030D-6E8A-4147-A177-3AD203B41FA5}">
                      <a16:colId xmlns:a16="http://schemas.microsoft.com/office/drawing/2014/main" val="383749619"/>
                    </a:ext>
                  </a:extLst>
                </a:gridCol>
                <a:gridCol w="829437">
                  <a:extLst>
                    <a:ext uri="{9D8B030D-6E8A-4147-A177-3AD203B41FA5}">
                      <a16:colId xmlns:a16="http://schemas.microsoft.com/office/drawing/2014/main" val="2425218406"/>
                    </a:ext>
                  </a:extLst>
                </a:gridCol>
                <a:gridCol w="829437">
                  <a:extLst>
                    <a:ext uri="{9D8B030D-6E8A-4147-A177-3AD203B41FA5}">
                      <a16:colId xmlns:a16="http://schemas.microsoft.com/office/drawing/2014/main" val="4251203963"/>
                    </a:ext>
                  </a:extLst>
                </a:gridCol>
                <a:gridCol w="829437">
                  <a:extLst>
                    <a:ext uri="{9D8B030D-6E8A-4147-A177-3AD203B41FA5}">
                      <a16:colId xmlns:a16="http://schemas.microsoft.com/office/drawing/2014/main" val="2710933721"/>
                    </a:ext>
                  </a:extLst>
                </a:gridCol>
                <a:gridCol w="829437">
                  <a:extLst>
                    <a:ext uri="{9D8B030D-6E8A-4147-A177-3AD203B41FA5}">
                      <a16:colId xmlns:a16="http://schemas.microsoft.com/office/drawing/2014/main" val="2439842733"/>
                    </a:ext>
                  </a:extLst>
                </a:gridCol>
                <a:gridCol w="829437">
                  <a:extLst>
                    <a:ext uri="{9D8B030D-6E8A-4147-A177-3AD203B41FA5}">
                      <a16:colId xmlns:a16="http://schemas.microsoft.com/office/drawing/2014/main" val="3337848166"/>
                    </a:ext>
                  </a:extLst>
                </a:gridCol>
                <a:gridCol w="829437">
                  <a:extLst>
                    <a:ext uri="{9D8B030D-6E8A-4147-A177-3AD203B41FA5}">
                      <a16:colId xmlns:a16="http://schemas.microsoft.com/office/drawing/2014/main" val="3001432564"/>
                    </a:ext>
                  </a:extLst>
                </a:gridCol>
                <a:gridCol w="829437">
                  <a:extLst>
                    <a:ext uri="{9D8B030D-6E8A-4147-A177-3AD203B41FA5}">
                      <a16:colId xmlns:a16="http://schemas.microsoft.com/office/drawing/2014/main" val="1432055427"/>
                    </a:ext>
                  </a:extLst>
                </a:gridCol>
                <a:gridCol w="829437">
                  <a:extLst>
                    <a:ext uri="{9D8B030D-6E8A-4147-A177-3AD203B41FA5}">
                      <a16:colId xmlns:a16="http://schemas.microsoft.com/office/drawing/2014/main" val="774238362"/>
                    </a:ext>
                  </a:extLst>
                </a:gridCol>
                <a:gridCol w="829437">
                  <a:extLst>
                    <a:ext uri="{9D8B030D-6E8A-4147-A177-3AD203B41FA5}">
                      <a16:colId xmlns:a16="http://schemas.microsoft.com/office/drawing/2014/main" val="3281938552"/>
                    </a:ext>
                  </a:extLst>
                </a:gridCol>
              </a:tblGrid>
              <a:tr h="470218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5916606"/>
                  </a:ext>
                </a:extLst>
              </a:tr>
              <a:tr h="470218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4401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456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F544EB-5B09-B650-A8C8-20B9F9E53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H-	Instructions Substring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FE217F-69AA-04CC-0758-C2B852192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平面直角坐标系中，小红初始站在原点</a:t>
            </a:r>
          </a:p>
          <a:p>
            <a:r>
              <a:rPr lang="zh-CN" altLang="en-US" dirty="0"/>
              <a:t>给定一个包含“上、下、左、右”的、长度为 </a:t>
            </a:r>
            <a:r>
              <a:rPr lang="en-US" altLang="zh-CN" dirty="0"/>
              <a:t>n</a:t>
            </a:r>
            <a:r>
              <a:rPr lang="zh-CN" altLang="en-US" dirty="0"/>
              <a:t>的指令序列，以及一个</a:t>
            </a:r>
          </a:p>
          <a:p>
            <a:r>
              <a:rPr lang="zh-CN" altLang="en-US" dirty="0"/>
              <a:t>特殊点 </a:t>
            </a:r>
            <a:r>
              <a:rPr lang="en-US" altLang="zh-CN" dirty="0"/>
              <a:t>(x, y)</a:t>
            </a:r>
          </a:p>
          <a:p>
            <a:r>
              <a:rPr lang="zh-CN" altLang="en-US" dirty="0"/>
              <a:t>求选定一个子串，小红根据该子串序列移动，可以经过特殊点的方案数</a:t>
            </a:r>
          </a:p>
          <a:p>
            <a:r>
              <a:rPr lang="en-US" altLang="zh-CN" dirty="0"/>
              <a:t>1 ≤ n ≤ 2 × 10^5, −10^5 ≤ x, y ≤ 10^5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3565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B31851-B93D-B78A-6A73-5C7399A09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1E207C-3345-C2C4-90C4-D8987DC72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WSSSADWSADW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2935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624270-2A31-C78A-DDD7-4CB289D1E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B-	MST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273903-2F10-77E3-284D-20E7230C8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给定一个 </a:t>
            </a:r>
            <a:r>
              <a:rPr lang="en-US" altLang="zh-CN" dirty="0"/>
              <a:t>n </a:t>
            </a:r>
            <a:r>
              <a:rPr lang="zh-CN" altLang="en-US" dirty="0"/>
              <a:t>个点的简单带权无向图 </a:t>
            </a:r>
            <a:r>
              <a:rPr lang="en-US" altLang="zh-CN" dirty="0"/>
              <a:t>G</a:t>
            </a:r>
          </a:p>
          <a:p>
            <a:r>
              <a:rPr lang="zh-CN" altLang="en-US" dirty="0"/>
              <a:t>每次询问一个点集 </a:t>
            </a:r>
            <a:r>
              <a:rPr lang="en-US" altLang="zh-CN" dirty="0"/>
              <a:t>S</a:t>
            </a:r>
            <a:r>
              <a:rPr lang="zh-CN" altLang="en-US" dirty="0"/>
              <a:t>，求 </a:t>
            </a:r>
            <a:r>
              <a:rPr lang="en-US" altLang="zh-CN" dirty="0"/>
              <a:t>S </a:t>
            </a:r>
            <a:r>
              <a:rPr lang="zh-CN" altLang="en-US" dirty="0"/>
              <a:t>关于 </a:t>
            </a:r>
            <a:r>
              <a:rPr lang="en-US" altLang="zh-CN" dirty="0"/>
              <a:t>G </a:t>
            </a:r>
            <a:r>
              <a:rPr lang="zh-CN" altLang="en-US" dirty="0"/>
              <a:t>导出子图的最小生成树</a:t>
            </a:r>
          </a:p>
          <a:p>
            <a:r>
              <a:rPr lang="zh-CN" altLang="en-US" dirty="0"/>
              <a:t>没有输出 −</a:t>
            </a:r>
            <a:r>
              <a:rPr lang="en-US" altLang="zh-CN" dirty="0"/>
              <a:t>1</a:t>
            </a:r>
          </a:p>
          <a:p>
            <a:r>
              <a:rPr lang="en-US" altLang="zh-CN" dirty="0"/>
              <a:t>2 ≤ n ≤ 10^5, 1 ≤ m, q ≤ 10^5, 1 ≤ </a:t>
            </a:r>
            <a:r>
              <a:rPr lang="en-US" altLang="zh-CN" dirty="0" err="1"/>
              <a:t>wi</a:t>
            </a:r>
            <a:r>
              <a:rPr lang="en-US" altLang="zh-CN" dirty="0"/>
              <a:t> ≤ 10^9, ∑ ki ≤ 10^5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1190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FABD82-882B-4608-0973-296F9655F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163107-E62E-C713-6B45-3939DB98C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6165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3C0341-6D13-D75E-53A9-3CE714C5E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I-	Red Playing Cards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8126DC-4EF5-A106-013E-5024D2930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给定一个长度为 </a:t>
            </a:r>
            <a:r>
              <a:rPr lang="en-US" altLang="zh-CN" dirty="0"/>
              <a:t>2 × n </a:t>
            </a:r>
            <a:r>
              <a:rPr lang="zh-CN" altLang="en-US" dirty="0"/>
              <a:t>的数组， </a:t>
            </a:r>
            <a:r>
              <a:rPr lang="en-US" altLang="zh-CN" dirty="0"/>
              <a:t>1 </a:t>
            </a:r>
            <a:r>
              <a:rPr lang="zh-CN" altLang="en-US" dirty="0"/>
              <a:t>到 </a:t>
            </a:r>
            <a:r>
              <a:rPr lang="en-US" altLang="zh-CN" dirty="0"/>
              <a:t>n </a:t>
            </a:r>
            <a:r>
              <a:rPr lang="zh-CN" altLang="en-US" dirty="0"/>
              <a:t>每个元素恰好出现两次</a:t>
            </a:r>
          </a:p>
          <a:p>
            <a:r>
              <a:rPr lang="zh-CN" altLang="en-US" dirty="0"/>
              <a:t>每次操作可以删除一个长度不小于 </a:t>
            </a:r>
            <a:r>
              <a:rPr lang="en-US" altLang="zh-CN" dirty="0"/>
              <a:t>2 </a:t>
            </a:r>
            <a:r>
              <a:rPr lang="zh-CN" altLang="en-US" dirty="0"/>
              <a:t>的连续子数组，需要满足该子数组</a:t>
            </a:r>
          </a:p>
          <a:p>
            <a:r>
              <a:rPr lang="zh-CN" altLang="en-US" dirty="0"/>
              <a:t>首尾相同，获得该连续子数组“首尾元素值”乘以“元素数量”的分数</a:t>
            </a:r>
          </a:p>
          <a:p>
            <a:r>
              <a:rPr lang="zh-CN" altLang="en-US" dirty="0"/>
              <a:t>问最终可以得到的最大分数</a:t>
            </a:r>
          </a:p>
          <a:p>
            <a:r>
              <a:rPr lang="en-US" altLang="zh-CN" dirty="0"/>
              <a:t>1 ≤ ai ≤ n ≤ 3000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3238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F2E172-3582-F793-72DC-993365954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F2669D-64E3-4957-107B-48B05D3C1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6689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41AFA8-A2D6-1DEB-821D-3A164E88C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A-	Floor Tiles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9B1B6D-F4FC-2A29-3DE4-D8C937D82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构造一个 </a:t>
            </a:r>
            <a:r>
              <a:rPr lang="en-US" altLang="zh-CN" dirty="0"/>
              <a:t>N × M </a:t>
            </a:r>
            <a:r>
              <a:rPr lang="zh-CN" altLang="en-US" dirty="0"/>
              <a:t>的平面，包含两种类型的地板</a:t>
            </a:r>
          </a:p>
          <a:p>
            <a:r>
              <a:rPr lang="zh-CN" altLang="en-US" dirty="0"/>
              <a:t>地板边缘中心点相连的曲线合并成一条曲线</a:t>
            </a:r>
          </a:p>
          <a:p>
            <a:r>
              <a:rPr lang="zh-CN" altLang="en-US" dirty="0"/>
              <a:t>问能否构造出仅包含恰好 </a:t>
            </a:r>
            <a:r>
              <a:rPr lang="en-US" altLang="zh-CN" dirty="0"/>
              <a:t>K</a:t>
            </a:r>
            <a:r>
              <a:rPr lang="zh-CN" altLang="en-US" dirty="0"/>
              <a:t>条曲线的地板</a:t>
            </a:r>
          </a:p>
          <a:p>
            <a:r>
              <a:rPr lang="en-US" altLang="zh-CN" dirty="0"/>
              <a:t>1 ≤ N, M ≤ 800, 1 ≤ K ≤ 2 · N · M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A8FD6D2-1D5D-9F87-F772-B1DB3FE16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4341495"/>
            <a:ext cx="5324475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510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FBBCFC1-C8B6-52FF-7A5A-4887DE98E6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1078737" y="1008590"/>
            <a:ext cx="1207347" cy="121496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20F13B3-A8EC-47B7-91B8-7BCF904552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5400000">
            <a:off x="2290686" y="1004780"/>
            <a:ext cx="1207347" cy="121496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FC49EC0-BBF5-021C-365C-48FC77C619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3502635" y="1008590"/>
            <a:ext cx="1207347" cy="121496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413BDE9-EA9C-A670-C3DD-CBC099079B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5400000">
            <a:off x="4714584" y="1004780"/>
            <a:ext cx="1207347" cy="121496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5E241F3-C7A5-8FD5-8DED-D7800E2599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5926533" y="1008590"/>
            <a:ext cx="1207347" cy="121496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3DF3B96-4D47-9465-EC10-88AE1A8EC4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5400000">
            <a:off x="7138482" y="1004780"/>
            <a:ext cx="1207347" cy="1214967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DAA0AC75-50A9-93F7-61FA-14FBC56205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10800000">
            <a:off x="1077945" y="2223557"/>
            <a:ext cx="1207347" cy="1214967"/>
          </a:xfrm>
          <a:prstGeom prst="rect">
            <a:avLst/>
          </a:prstGeom>
        </p:spPr>
      </p:pic>
      <p:pic>
        <p:nvPicPr>
          <p:cNvPr id="50" name="图片 49">
            <a:extLst>
              <a:ext uri="{FF2B5EF4-FFF2-40B4-BE49-F238E27FC236}">
                <a16:creationId xmlns:a16="http://schemas.microsoft.com/office/drawing/2014/main" id="{D3D300F8-5F73-61A4-2C07-FB9675BAC9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16200000">
            <a:off x="2289894" y="2219747"/>
            <a:ext cx="1207347" cy="1214967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0BE38217-192B-D222-6879-AB40476F31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10800000">
            <a:off x="3501843" y="2223557"/>
            <a:ext cx="1207347" cy="1214967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12707C4A-0466-99F4-0E91-DEAEC145C7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16200000">
            <a:off x="4713792" y="2219747"/>
            <a:ext cx="1207347" cy="1214967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0A5C8AF2-2022-7424-352B-5B0DCA945F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10800000">
            <a:off x="5925741" y="2223557"/>
            <a:ext cx="1207347" cy="1214967"/>
          </a:xfrm>
          <a:prstGeom prst="rect">
            <a:avLst/>
          </a:prstGeom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4EB0B8D8-BB34-A21C-DF57-AE33F53495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16200000">
            <a:off x="7137690" y="2219747"/>
            <a:ext cx="1207347" cy="1214967"/>
          </a:xfrm>
          <a:prstGeom prst="rect">
            <a:avLst/>
          </a:prstGeom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5A657AC4-9CF1-56C7-E6EB-012A55C135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1079529" y="3400879"/>
            <a:ext cx="1207347" cy="1214967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B9148A45-38E0-34E8-1196-FEF99D830F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5400000">
            <a:off x="2291478" y="3397069"/>
            <a:ext cx="1207347" cy="1214967"/>
          </a:xfrm>
          <a:prstGeom prst="rect">
            <a:avLst/>
          </a:prstGeom>
        </p:spPr>
      </p:pic>
      <p:pic>
        <p:nvPicPr>
          <p:cNvPr id="57" name="图片 56">
            <a:extLst>
              <a:ext uri="{FF2B5EF4-FFF2-40B4-BE49-F238E27FC236}">
                <a16:creationId xmlns:a16="http://schemas.microsoft.com/office/drawing/2014/main" id="{1C18A1E8-6124-B285-273D-616BFEF386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3503427" y="3400879"/>
            <a:ext cx="1207347" cy="1214967"/>
          </a:xfrm>
          <a:prstGeom prst="rect">
            <a:avLst/>
          </a:prstGeom>
        </p:spPr>
      </p:pic>
      <p:pic>
        <p:nvPicPr>
          <p:cNvPr id="58" name="图片 57">
            <a:extLst>
              <a:ext uri="{FF2B5EF4-FFF2-40B4-BE49-F238E27FC236}">
                <a16:creationId xmlns:a16="http://schemas.microsoft.com/office/drawing/2014/main" id="{9B858649-B9FA-A483-E407-C49C033C4B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5400000">
            <a:off x="4715376" y="3397069"/>
            <a:ext cx="1207347" cy="1214967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22522B9C-0295-4137-8B59-D170604992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5927325" y="3400879"/>
            <a:ext cx="1207347" cy="1214967"/>
          </a:xfrm>
          <a:prstGeom prst="rect">
            <a:avLst/>
          </a:prstGeom>
        </p:spPr>
      </p:pic>
      <p:pic>
        <p:nvPicPr>
          <p:cNvPr id="60" name="图片 59">
            <a:extLst>
              <a:ext uri="{FF2B5EF4-FFF2-40B4-BE49-F238E27FC236}">
                <a16:creationId xmlns:a16="http://schemas.microsoft.com/office/drawing/2014/main" id="{0AB6DB95-BD9A-E8F6-BC43-8635F94B4A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5400000">
            <a:off x="7139274" y="3397069"/>
            <a:ext cx="1207347" cy="1214967"/>
          </a:xfrm>
          <a:prstGeom prst="rect">
            <a:avLst/>
          </a:prstGeom>
        </p:spPr>
      </p:pic>
      <p:pic>
        <p:nvPicPr>
          <p:cNvPr id="61" name="图片 60">
            <a:extLst>
              <a:ext uri="{FF2B5EF4-FFF2-40B4-BE49-F238E27FC236}">
                <a16:creationId xmlns:a16="http://schemas.microsoft.com/office/drawing/2014/main" id="{71AAF881-7BA5-15D8-1A89-A44D813451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10800000">
            <a:off x="1078737" y="4615846"/>
            <a:ext cx="1207347" cy="1214967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544AB508-A8CA-F0C2-815D-5056EDAAC8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16200000">
            <a:off x="2290686" y="4612036"/>
            <a:ext cx="1207347" cy="1214967"/>
          </a:xfrm>
          <a:prstGeom prst="rect">
            <a:avLst/>
          </a:prstGeom>
        </p:spPr>
      </p:pic>
      <p:pic>
        <p:nvPicPr>
          <p:cNvPr id="63" name="图片 62">
            <a:extLst>
              <a:ext uri="{FF2B5EF4-FFF2-40B4-BE49-F238E27FC236}">
                <a16:creationId xmlns:a16="http://schemas.microsoft.com/office/drawing/2014/main" id="{5E9A3E71-D084-67CE-607E-8C4B66EF58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10800000">
            <a:off x="3502635" y="4615846"/>
            <a:ext cx="1207347" cy="1214967"/>
          </a:xfrm>
          <a:prstGeom prst="rect">
            <a:avLst/>
          </a:prstGeom>
        </p:spPr>
      </p:pic>
      <p:pic>
        <p:nvPicPr>
          <p:cNvPr id="64" name="图片 63">
            <a:extLst>
              <a:ext uri="{FF2B5EF4-FFF2-40B4-BE49-F238E27FC236}">
                <a16:creationId xmlns:a16="http://schemas.microsoft.com/office/drawing/2014/main" id="{4CE942EB-2857-30B6-E442-D9413B2FBE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16200000">
            <a:off x="4714584" y="4612036"/>
            <a:ext cx="1207347" cy="1214967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EB2515A6-C29A-FA0C-3E33-B5F960D6F0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10800000">
            <a:off x="5926533" y="4615846"/>
            <a:ext cx="1207347" cy="1214967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9AD69E94-7DA4-5299-51AC-DBB27D0D4C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16200000">
            <a:off x="7138482" y="4612036"/>
            <a:ext cx="1207347" cy="121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636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FBBCFC1-C8B6-52FF-7A5A-4887DE98E6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1078737" y="1008590"/>
            <a:ext cx="1207347" cy="121496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20F13B3-A8EC-47B7-91B8-7BCF904552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5400000">
            <a:off x="2290686" y="1004780"/>
            <a:ext cx="1207347" cy="121496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FC49EC0-BBF5-021C-365C-48FC77C619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16200000">
            <a:off x="3502635" y="1008590"/>
            <a:ext cx="1207347" cy="121496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413BDE9-EA9C-A670-C3DD-CBC099079B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5400000">
            <a:off x="4714584" y="1004780"/>
            <a:ext cx="1207347" cy="121496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5E241F3-C7A5-8FD5-8DED-D7800E2599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5926533" y="1008590"/>
            <a:ext cx="1207347" cy="121496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3DF3B96-4D47-9465-EC10-88AE1A8EC4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5400000">
            <a:off x="7138482" y="1004780"/>
            <a:ext cx="1207347" cy="1214967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DAA0AC75-50A9-93F7-61FA-14FBC56205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10800000">
            <a:off x="1077945" y="2223557"/>
            <a:ext cx="1207347" cy="1214967"/>
          </a:xfrm>
          <a:prstGeom prst="rect">
            <a:avLst/>
          </a:prstGeom>
        </p:spPr>
      </p:pic>
      <p:pic>
        <p:nvPicPr>
          <p:cNvPr id="50" name="图片 49">
            <a:extLst>
              <a:ext uri="{FF2B5EF4-FFF2-40B4-BE49-F238E27FC236}">
                <a16:creationId xmlns:a16="http://schemas.microsoft.com/office/drawing/2014/main" id="{D3D300F8-5F73-61A4-2C07-FB9675BAC9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2289894" y="2219747"/>
            <a:ext cx="1207347" cy="1214967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0BE38217-192B-D222-6879-AB40476F31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10800000">
            <a:off x="3501843" y="2223557"/>
            <a:ext cx="1207347" cy="1214967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12707C4A-0466-99F4-0E91-DEAEC145C7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16200000">
            <a:off x="4713792" y="2219747"/>
            <a:ext cx="1207347" cy="1214967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0A5C8AF2-2022-7424-352B-5B0DCA945F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10800000">
            <a:off x="5925741" y="2223557"/>
            <a:ext cx="1207347" cy="1214967"/>
          </a:xfrm>
          <a:prstGeom prst="rect">
            <a:avLst/>
          </a:prstGeom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4EB0B8D8-BB34-A21C-DF57-AE33F53495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16200000">
            <a:off x="7137690" y="2219747"/>
            <a:ext cx="1207347" cy="1214967"/>
          </a:xfrm>
          <a:prstGeom prst="rect">
            <a:avLst/>
          </a:prstGeom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5A657AC4-9CF1-56C7-E6EB-012A55C135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5400000">
            <a:off x="1079529" y="3400879"/>
            <a:ext cx="1207347" cy="1214967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B9148A45-38E0-34E8-1196-FEF99D830F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5400000">
            <a:off x="2291478" y="3397069"/>
            <a:ext cx="1207347" cy="1214967"/>
          </a:xfrm>
          <a:prstGeom prst="rect">
            <a:avLst/>
          </a:prstGeom>
        </p:spPr>
      </p:pic>
      <p:pic>
        <p:nvPicPr>
          <p:cNvPr id="57" name="图片 56">
            <a:extLst>
              <a:ext uri="{FF2B5EF4-FFF2-40B4-BE49-F238E27FC236}">
                <a16:creationId xmlns:a16="http://schemas.microsoft.com/office/drawing/2014/main" id="{1C18A1E8-6124-B285-273D-616BFEF386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5400000">
            <a:off x="3503427" y="3400879"/>
            <a:ext cx="1207347" cy="1214967"/>
          </a:xfrm>
          <a:prstGeom prst="rect">
            <a:avLst/>
          </a:prstGeom>
        </p:spPr>
      </p:pic>
      <p:pic>
        <p:nvPicPr>
          <p:cNvPr id="58" name="图片 57">
            <a:extLst>
              <a:ext uri="{FF2B5EF4-FFF2-40B4-BE49-F238E27FC236}">
                <a16:creationId xmlns:a16="http://schemas.microsoft.com/office/drawing/2014/main" id="{9B858649-B9FA-A483-E407-C49C033C4B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5400000">
            <a:off x="4715376" y="3397069"/>
            <a:ext cx="1207347" cy="1214967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22522B9C-0295-4137-8B59-D170604992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5400000">
            <a:off x="5916537" y="3400879"/>
            <a:ext cx="1207347" cy="1214967"/>
          </a:xfrm>
          <a:prstGeom prst="rect">
            <a:avLst/>
          </a:prstGeom>
        </p:spPr>
      </p:pic>
      <p:pic>
        <p:nvPicPr>
          <p:cNvPr id="60" name="图片 59">
            <a:extLst>
              <a:ext uri="{FF2B5EF4-FFF2-40B4-BE49-F238E27FC236}">
                <a16:creationId xmlns:a16="http://schemas.microsoft.com/office/drawing/2014/main" id="{0AB6DB95-BD9A-E8F6-BC43-8635F94B4A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5400000">
            <a:off x="7139274" y="3397069"/>
            <a:ext cx="1207347" cy="1214967"/>
          </a:xfrm>
          <a:prstGeom prst="rect">
            <a:avLst/>
          </a:prstGeom>
        </p:spPr>
      </p:pic>
      <p:pic>
        <p:nvPicPr>
          <p:cNvPr id="61" name="图片 60">
            <a:extLst>
              <a:ext uri="{FF2B5EF4-FFF2-40B4-BE49-F238E27FC236}">
                <a16:creationId xmlns:a16="http://schemas.microsoft.com/office/drawing/2014/main" id="{71AAF881-7BA5-15D8-1A89-A44D813451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10800000">
            <a:off x="1078737" y="4615846"/>
            <a:ext cx="1207347" cy="1214967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544AB508-A8CA-F0C2-815D-5056EDAAC8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16200000">
            <a:off x="2290686" y="4612036"/>
            <a:ext cx="1207347" cy="1214967"/>
          </a:xfrm>
          <a:prstGeom prst="rect">
            <a:avLst/>
          </a:prstGeom>
        </p:spPr>
      </p:pic>
      <p:pic>
        <p:nvPicPr>
          <p:cNvPr id="63" name="图片 62">
            <a:extLst>
              <a:ext uri="{FF2B5EF4-FFF2-40B4-BE49-F238E27FC236}">
                <a16:creationId xmlns:a16="http://schemas.microsoft.com/office/drawing/2014/main" id="{5E9A3E71-D084-67CE-607E-8C4B66EF58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10800000">
            <a:off x="3502635" y="4615846"/>
            <a:ext cx="1207347" cy="1214967"/>
          </a:xfrm>
          <a:prstGeom prst="rect">
            <a:avLst/>
          </a:prstGeom>
        </p:spPr>
      </p:pic>
      <p:pic>
        <p:nvPicPr>
          <p:cNvPr id="64" name="图片 63">
            <a:extLst>
              <a:ext uri="{FF2B5EF4-FFF2-40B4-BE49-F238E27FC236}">
                <a16:creationId xmlns:a16="http://schemas.microsoft.com/office/drawing/2014/main" id="{4CE942EB-2857-30B6-E442-D9413B2FBE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16200000">
            <a:off x="4714584" y="4612036"/>
            <a:ext cx="1207347" cy="1214967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EB2515A6-C29A-FA0C-3E33-B5F960D6F0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16200000">
            <a:off x="5926533" y="4615846"/>
            <a:ext cx="1207347" cy="1214967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9AD69E94-7DA4-5299-51AC-DBB27D0D4C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10800000">
            <a:off x="7117698" y="4612036"/>
            <a:ext cx="1207347" cy="121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985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FBBCFC1-C8B6-52FF-7A5A-4887DE98E6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1078737" y="1008590"/>
            <a:ext cx="1207347" cy="121496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20F13B3-A8EC-47B7-91B8-7BCF904552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5400000">
            <a:off x="2283066" y="993577"/>
            <a:ext cx="1207347" cy="121496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FC49EC0-BBF5-021C-365C-48FC77C619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16200000">
            <a:off x="3502635" y="1008590"/>
            <a:ext cx="1207347" cy="121496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413BDE9-EA9C-A670-C3DD-CBC099079B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10800000">
            <a:off x="4714584" y="1004780"/>
            <a:ext cx="1207347" cy="121496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5E241F3-C7A5-8FD5-8DED-D7800E2599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5926533" y="1008590"/>
            <a:ext cx="1207347" cy="121496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3DF3B96-4D47-9465-EC10-88AE1A8EC4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5400000">
            <a:off x="7138482" y="1004780"/>
            <a:ext cx="1207347" cy="1214967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DAA0AC75-50A9-93F7-61FA-14FBC56205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10800000">
            <a:off x="1077945" y="2223557"/>
            <a:ext cx="1207347" cy="1214967"/>
          </a:xfrm>
          <a:prstGeom prst="rect">
            <a:avLst/>
          </a:prstGeom>
        </p:spPr>
      </p:pic>
      <p:pic>
        <p:nvPicPr>
          <p:cNvPr id="50" name="图片 49">
            <a:extLst>
              <a:ext uri="{FF2B5EF4-FFF2-40B4-BE49-F238E27FC236}">
                <a16:creationId xmlns:a16="http://schemas.microsoft.com/office/drawing/2014/main" id="{D3D300F8-5F73-61A4-2C07-FB9675BAC9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16200000">
            <a:off x="2289894" y="2219747"/>
            <a:ext cx="1207347" cy="1214967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0BE38217-192B-D222-6879-AB40476F31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10800000">
            <a:off x="3501843" y="2223557"/>
            <a:ext cx="1207347" cy="1214967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12707C4A-0466-99F4-0E91-DEAEC145C7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16200000">
            <a:off x="4713792" y="2219747"/>
            <a:ext cx="1207347" cy="1214967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0A5C8AF2-2022-7424-352B-5B0DCA945F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16200000">
            <a:off x="5925741" y="2223557"/>
            <a:ext cx="1207347" cy="1214967"/>
          </a:xfrm>
          <a:prstGeom prst="rect">
            <a:avLst/>
          </a:prstGeom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4EB0B8D8-BB34-A21C-DF57-AE33F53495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16200000">
            <a:off x="7137690" y="2219747"/>
            <a:ext cx="1207347" cy="1214967"/>
          </a:xfrm>
          <a:prstGeom prst="rect">
            <a:avLst/>
          </a:prstGeom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5A657AC4-9CF1-56C7-E6EB-012A55C135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5400000">
            <a:off x="1079529" y="3400879"/>
            <a:ext cx="1207347" cy="1214967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B9148A45-38E0-34E8-1196-FEF99D830F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5400000">
            <a:off x="2291478" y="3397069"/>
            <a:ext cx="1207347" cy="1214967"/>
          </a:xfrm>
          <a:prstGeom prst="rect">
            <a:avLst/>
          </a:prstGeom>
        </p:spPr>
      </p:pic>
      <p:pic>
        <p:nvPicPr>
          <p:cNvPr id="57" name="图片 56">
            <a:extLst>
              <a:ext uri="{FF2B5EF4-FFF2-40B4-BE49-F238E27FC236}">
                <a16:creationId xmlns:a16="http://schemas.microsoft.com/office/drawing/2014/main" id="{1C18A1E8-6124-B285-273D-616BFEF386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5400000">
            <a:off x="3503427" y="3400879"/>
            <a:ext cx="1207347" cy="1214967"/>
          </a:xfrm>
          <a:prstGeom prst="rect">
            <a:avLst/>
          </a:prstGeom>
        </p:spPr>
      </p:pic>
      <p:pic>
        <p:nvPicPr>
          <p:cNvPr id="58" name="图片 57">
            <a:extLst>
              <a:ext uri="{FF2B5EF4-FFF2-40B4-BE49-F238E27FC236}">
                <a16:creationId xmlns:a16="http://schemas.microsoft.com/office/drawing/2014/main" id="{9B858649-B9FA-A483-E407-C49C033C4B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5400000">
            <a:off x="4715376" y="3397069"/>
            <a:ext cx="1207347" cy="1214967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22522B9C-0295-4137-8B59-D170604992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5400000">
            <a:off x="5916537" y="3400879"/>
            <a:ext cx="1207347" cy="1214967"/>
          </a:xfrm>
          <a:prstGeom prst="rect">
            <a:avLst/>
          </a:prstGeom>
        </p:spPr>
      </p:pic>
      <p:pic>
        <p:nvPicPr>
          <p:cNvPr id="60" name="图片 59">
            <a:extLst>
              <a:ext uri="{FF2B5EF4-FFF2-40B4-BE49-F238E27FC236}">
                <a16:creationId xmlns:a16="http://schemas.microsoft.com/office/drawing/2014/main" id="{0AB6DB95-BD9A-E8F6-BC43-8635F94B4A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5400000">
            <a:off x="7139274" y="3397069"/>
            <a:ext cx="1207347" cy="1214967"/>
          </a:xfrm>
          <a:prstGeom prst="rect">
            <a:avLst/>
          </a:prstGeom>
        </p:spPr>
      </p:pic>
      <p:pic>
        <p:nvPicPr>
          <p:cNvPr id="61" name="图片 60">
            <a:extLst>
              <a:ext uri="{FF2B5EF4-FFF2-40B4-BE49-F238E27FC236}">
                <a16:creationId xmlns:a16="http://schemas.microsoft.com/office/drawing/2014/main" id="{71AAF881-7BA5-15D8-1A89-A44D813451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10800000">
            <a:off x="1078737" y="4615846"/>
            <a:ext cx="1207347" cy="1214967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544AB508-A8CA-F0C2-815D-5056EDAAC8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16200000">
            <a:off x="2290686" y="4612036"/>
            <a:ext cx="1207347" cy="1214967"/>
          </a:xfrm>
          <a:prstGeom prst="rect">
            <a:avLst/>
          </a:prstGeom>
        </p:spPr>
      </p:pic>
      <p:pic>
        <p:nvPicPr>
          <p:cNvPr id="63" name="图片 62">
            <a:extLst>
              <a:ext uri="{FF2B5EF4-FFF2-40B4-BE49-F238E27FC236}">
                <a16:creationId xmlns:a16="http://schemas.microsoft.com/office/drawing/2014/main" id="{5E9A3E71-D084-67CE-607E-8C4B66EF58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10800000">
            <a:off x="3502635" y="4615846"/>
            <a:ext cx="1207347" cy="1214967"/>
          </a:xfrm>
          <a:prstGeom prst="rect">
            <a:avLst/>
          </a:prstGeom>
        </p:spPr>
      </p:pic>
      <p:pic>
        <p:nvPicPr>
          <p:cNvPr id="64" name="图片 63">
            <a:extLst>
              <a:ext uri="{FF2B5EF4-FFF2-40B4-BE49-F238E27FC236}">
                <a16:creationId xmlns:a16="http://schemas.microsoft.com/office/drawing/2014/main" id="{4CE942EB-2857-30B6-E442-D9413B2FBE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4714584" y="4612036"/>
            <a:ext cx="1207347" cy="1214967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EB2515A6-C29A-FA0C-3E33-B5F960D6F0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16200000">
            <a:off x="5926533" y="4615846"/>
            <a:ext cx="1207347" cy="1214967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9AD69E94-7DA4-5299-51AC-DBB27D0D4C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10800000">
            <a:off x="7117698" y="4612036"/>
            <a:ext cx="1207347" cy="121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7318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FBBCFC1-C8B6-52FF-7A5A-4887DE98E6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1078737" y="978565"/>
            <a:ext cx="1207347" cy="121496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20F13B3-A8EC-47B7-91B8-7BCF904552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5400000">
            <a:off x="2290686" y="974755"/>
            <a:ext cx="1207347" cy="121496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FC49EC0-BBF5-021C-365C-48FC77C619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3502635" y="978565"/>
            <a:ext cx="1207347" cy="121496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413BDE9-EA9C-A670-C3DD-CBC099079B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5400000">
            <a:off x="4714584" y="974755"/>
            <a:ext cx="1207347" cy="121496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5E241F3-C7A5-8FD5-8DED-D7800E2599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5926533" y="978565"/>
            <a:ext cx="1207347" cy="121496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3DF3B96-4D47-9465-EC10-88AE1A8EC4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5400000">
            <a:off x="7138482" y="974755"/>
            <a:ext cx="1207347" cy="1214967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DAA0AC75-50A9-93F7-61FA-14FBC56205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5400000">
            <a:off x="1077945" y="2193532"/>
            <a:ext cx="1207347" cy="1214967"/>
          </a:xfrm>
          <a:prstGeom prst="rect">
            <a:avLst/>
          </a:prstGeom>
        </p:spPr>
      </p:pic>
      <p:pic>
        <p:nvPicPr>
          <p:cNvPr id="50" name="图片 49">
            <a:extLst>
              <a:ext uri="{FF2B5EF4-FFF2-40B4-BE49-F238E27FC236}">
                <a16:creationId xmlns:a16="http://schemas.microsoft.com/office/drawing/2014/main" id="{D3D300F8-5F73-61A4-2C07-FB9675BAC9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10800000">
            <a:off x="2289894" y="2189722"/>
            <a:ext cx="1207347" cy="1214967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0BE38217-192B-D222-6879-AB40476F31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5400000">
            <a:off x="3501843" y="2193532"/>
            <a:ext cx="1207347" cy="1214967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12707C4A-0466-99F4-0E91-DEAEC145C7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10800000">
            <a:off x="4713792" y="2189722"/>
            <a:ext cx="1207347" cy="1214967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0A5C8AF2-2022-7424-352B-5B0DCA945F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5400000">
            <a:off x="5925741" y="2193532"/>
            <a:ext cx="1207347" cy="1214967"/>
          </a:xfrm>
          <a:prstGeom prst="rect">
            <a:avLst/>
          </a:prstGeom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4EB0B8D8-BB34-A21C-DF57-AE33F53495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10800000">
            <a:off x="7137690" y="2189722"/>
            <a:ext cx="1207347" cy="1214967"/>
          </a:xfrm>
          <a:prstGeom prst="rect">
            <a:avLst/>
          </a:prstGeom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5A657AC4-9CF1-56C7-E6EB-012A55C135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1079529" y="3400879"/>
            <a:ext cx="1207347" cy="1214967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B9148A45-38E0-34E8-1196-FEF99D830F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5400000">
            <a:off x="2291478" y="3397069"/>
            <a:ext cx="1207347" cy="1214967"/>
          </a:xfrm>
          <a:prstGeom prst="rect">
            <a:avLst/>
          </a:prstGeom>
        </p:spPr>
      </p:pic>
      <p:pic>
        <p:nvPicPr>
          <p:cNvPr id="57" name="图片 56">
            <a:extLst>
              <a:ext uri="{FF2B5EF4-FFF2-40B4-BE49-F238E27FC236}">
                <a16:creationId xmlns:a16="http://schemas.microsoft.com/office/drawing/2014/main" id="{1C18A1E8-6124-B285-273D-616BFEF386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3503427" y="3400879"/>
            <a:ext cx="1207347" cy="1214967"/>
          </a:xfrm>
          <a:prstGeom prst="rect">
            <a:avLst/>
          </a:prstGeom>
        </p:spPr>
      </p:pic>
      <p:pic>
        <p:nvPicPr>
          <p:cNvPr id="58" name="图片 57">
            <a:extLst>
              <a:ext uri="{FF2B5EF4-FFF2-40B4-BE49-F238E27FC236}">
                <a16:creationId xmlns:a16="http://schemas.microsoft.com/office/drawing/2014/main" id="{9B858649-B9FA-A483-E407-C49C033C4B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5400000">
            <a:off x="4715376" y="3397069"/>
            <a:ext cx="1207347" cy="1214967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22522B9C-0295-4137-8B59-D170604992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5927325" y="3400879"/>
            <a:ext cx="1207347" cy="1214967"/>
          </a:xfrm>
          <a:prstGeom prst="rect">
            <a:avLst/>
          </a:prstGeom>
        </p:spPr>
      </p:pic>
      <p:pic>
        <p:nvPicPr>
          <p:cNvPr id="60" name="图片 59">
            <a:extLst>
              <a:ext uri="{FF2B5EF4-FFF2-40B4-BE49-F238E27FC236}">
                <a16:creationId xmlns:a16="http://schemas.microsoft.com/office/drawing/2014/main" id="{0AB6DB95-BD9A-E8F6-BC43-8635F94B4A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5400000">
            <a:off x="7139274" y="3397069"/>
            <a:ext cx="1207347" cy="1214967"/>
          </a:xfrm>
          <a:prstGeom prst="rect">
            <a:avLst/>
          </a:prstGeom>
        </p:spPr>
      </p:pic>
      <p:pic>
        <p:nvPicPr>
          <p:cNvPr id="61" name="图片 60">
            <a:extLst>
              <a:ext uri="{FF2B5EF4-FFF2-40B4-BE49-F238E27FC236}">
                <a16:creationId xmlns:a16="http://schemas.microsoft.com/office/drawing/2014/main" id="{71AAF881-7BA5-15D8-1A89-A44D813451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16200000">
            <a:off x="1078737" y="4615846"/>
            <a:ext cx="1207347" cy="1214967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544AB508-A8CA-F0C2-815D-5056EDAAC8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2290686" y="4612036"/>
            <a:ext cx="1207347" cy="1214967"/>
          </a:xfrm>
          <a:prstGeom prst="rect">
            <a:avLst/>
          </a:prstGeom>
        </p:spPr>
      </p:pic>
      <p:pic>
        <p:nvPicPr>
          <p:cNvPr id="63" name="图片 62">
            <a:extLst>
              <a:ext uri="{FF2B5EF4-FFF2-40B4-BE49-F238E27FC236}">
                <a16:creationId xmlns:a16="http://schemas.microsoft.com/office/drawing/2014/main" id="{5E9A3E71-D084-67CE-607E-8C4B66EF58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16200000">
            <a:off x="3502635" y="4615846"/>
            <a:ext cx="1207347" cy="1214967"/>
          </a:xfrm>
          <a:prstGeom prst="rect">
            <a:avLst/>
          </a:prstGeom>
        </p:spPr>
      </p:pic>
      <p:pic>
        <p:nvPicPr>
          <p:cNvPr id="64" name="图片 63">
            <a:extLst>
              <a:ext uri="{FF2B5EF4-FFF2-40B4-BE49-F238E27FC236}">
                <a16:creationId xmlns:a16="http://schemas.microsoft.com/office/drawing/2014/main" id="{4CE942EB-2857-30B6-E442-D9413B2FBE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4714584" y="4612036"/>
            <a:ext cx="1207347" cy="1214967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EB2515A6-C29A-FA0C-3E33-B5F960D6F0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 rot="16200000">
            <a:off x="5926533" y="4615846"/>
            <a:ext cx="1207347" cy="1214967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9AD69E94-7DA4-5299-51AC-DBB27D0D4C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7138482" y="4612036"/>
            <a:ext cx="1207347" cy="1214967"/>
          </a:xfrm>
          <a:prstGeom prst="rect">
            <a:avLst/>
          </a:prstGeom>
        </p:spPr>
      </p:pic>
      <p:sp>
        <p:nvSpPr>
          <p:cNvPr id="48" name="矩形 47">
            <a:extLst>
              <a:ext uri="{FF2B5EF4-FFF2-40B4-BE49-F238E27FC236}">
                <a16:creationId xmlns:a16="http://schemas.microsoft.com/office/drawing/2014/main" id="{C98926A8-1B64-2827-0D8A-4D28CA1AE7D0}"/>
              </a:ext>
            </a:extLst>
          </p:cNvPr>
          <p:cNvSpPr/>
          <p:nvPr/>
        </p:nvSpPr>
        <p:spPr>
          <a:xfrm>
            <a:off x="1088619" y="978565"/>
            <a:ext cx="7256418" cy="4848438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2852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B95914-C076-5A2A-07DA-3F86806CF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9FAF2437-905E-7CAC-1006-BC2F8A6076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1088676" y="1690689"/>
            <a:ext cx="1207347" cy="1214967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ACA9A6E9-8085-964E-2896-8D59BB2E93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2281242" y="1690689"/>
            <a:ext cx="1207347" cy="1214967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BD93E5BA-0077-CEE4-F605-982B180EDC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3473808" y="1690689"/>
            <a:ext cx="1207347" cy="1214967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1AF638E8-0CBA-48CE-101C-DEE5D31304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4666374" y="1690689"/>
            <a:ext cx="1207347" cy="1214967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111C46DD-8480-42B0-6787-96599E036D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5858940" y="1690689"/>
            <a:ext cx="1207347" cy="1214967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35354B17-61E8-9B58-0974-DEECDAF783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7051508" y="1690688"/>
            <a:ext cx="1207347" cy="121496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3413F64-634D-1EE1-669C-D30E8C944B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1088676" y="2905656"/>
            <a:ext cx="1207347" cy="121496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F0A9E1C-6813-E50C-0D0E-E7C96C433A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2281242" y="2905656"/>
            <a:ext cx="1207347" cy="121496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06A633F-EDD7-81BF-4140-EFA2776882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3473808" y="2905656"/>
            <a:ext cx="1207347" cy="121496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0172367-BF78-C94D-A336-FC80A5525D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4666374" y="2905656"/>
            <a:ext cx="1207347" cy="121496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FFCAAE1-4B09-6AC4-B42E-5C903EFBAE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5858940" y="2905656"/>
            <a:ext cx="1207347" cy="121496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022D79A-9721-CE0C-7A49-DD1CDCAD4C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7051508" y="2905655"/>
            <a:ext cx="1207347" cy="121496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826D6BF-A526-D396-9570-12571AD9B5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1088676" y="4103839"/>
            <a:ext cx="1207347" cy="1214967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FE819311-10D8-13AC-0F08-423BC389DB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2281242" y="4103839"/>
            <a:ext cx="1207347" cy="1214967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890DFC18-CA05-CFFA-5D50-48F137D5CD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3473808" y="4103839"/>
            <a:ext cx="1207347" cy="1214967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BDAF37EC-EE4C-0C18-0D33-5B53963918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4666374" y="4103839"/>
            <a:ext cx="1207347" cy="1214967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3AF9F401-E3E6-DC36-FF24-8D0C5C01D8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5858940" y="4103839"/>
            <a:ext cx="1207347" cy="1214967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9A79880F-0C60-8FAF-28FB-47D81F0BB1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7051508" y="4103838"/>
            <a:ext cx="1207347" cy="1214967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4E7CDF74-FFFF-3F66-57F6-7CBAC6D784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1088676" y="5318806"/>
            <a:ext cx="1207347" cy="1214967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31D63707-8FD4-C5A3-A5F5-9AC6B44DA6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2281242" y="5318806"/>
            <a:ext cx="1207347" cy="1214967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ABD6BAAE-92F7-E7E5-8C71-0BCDF7840B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3473808" y="5318806"/>
            <a:ext cx="1207347" cy="1214967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2BF34F76-2D55-08A9-1BDC-F24BA581E1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4666374" y="5318806"/>
            <a:ext cx="1207347" cy="1214967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EAFF38D6-15D3-E041-E5F3-ABF2245C0D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5858940" y="5318806"/>
            <a:ext cx="1207347" cy="1214967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FE236C6F-FD54-D8E5-CDC0-1D24517242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2" t="9896" r="20232" b="10382"/>
          <a:stretch/>
        </p:blipFill>
        <p:spPr>
          <a:xfrm>
            <a:off x="7051508" y="5318805"/>
            <a:ext cx="1207347" cy="1214967"/>
          </a:xfrm>
          <a:prstGeom prst="rect">
            <a:avLst/>
          </a:prstGeom>
        </p:spPr>
      </p:pic>
      <p:sp>
        <p:nvSpPr>
          <p:cNvPr id="49" name="矩形 48">
            <a:extLst>
              <a:ext uri="{FF2B5EF4-FFF2-40B4-BE49-F238E27FC236}">
                <a16:creationId xmlns:a16="http://schemas.microsoft.com/office/drawing/2014/main" id="{01FB395A-BF33-1B3C-0D0F-AA0AF106E785}"/>
              </a:ext>
            </a:extLst>
          </p:cNvPr>
          <p:cNvSpPr/>
          <p:nvPr/>
        </p:nvSpPr>
        <p:spPr>
          <a:xfrm>
            <a:off x="1088676" y="1690688"/>
            <a:ext cx="7170179" cy="4856059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130959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B20C83-F1FF-85BC-784C-97F4F8E01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G-	The Set of Squares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34ECEA-035F-3FC4-E00E-9724228D1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定义一个多重数集合是好的，但且仅当集合中元素乘积是一个正整数的平方，集合的权值为这个正整数的值。</a:t>
            </a:r>
          </a:p>
          <a:p>
            <a:r>
              <a:rPr lang="zh-CN" altLang="en-US" dirty="0"/>
              <a:t>求大小为 </a:t>
            </a:r>
            <a:r>
              <a:rPr lang="en-US" altLang="zh-CN" dirty="0"/>
              <a:t>N</a:t>
            </a:r>
            <a:r>
              <a:rPr lang="zh-CN" altLang="en-US" dirty="0"/>
              <a:t>的多重数集的所有子集中所有好集的权值和</a:t>
            </a:r>
          </a:p>
          <a:p>
            <a:r>
              <a:rPr lang="en-US" altLang="zh-CN" dirty="0"/>
              <a:t>1 ≤ N ≤ 1000, 1 ≤ Si ≤ 1000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50275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397B40-715D-8024-3122-D4EBE8E19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36C87D14-F23B-6961-7D96-7BA6C7207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54395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C074F3-18A4-7443-1343-CF8E3DEF9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A5F49A-B015-7455-DF71-2DDFD9612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https://ac.nowcoder.com/acm/contest/view-submission?submissionId=70272450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9009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3">
          <a:schemeClr val="accent5"/>
        </a:lnRef>
        <a:fillRef idx="0">
          <a:schemeClr val="accent5"/>
        </a:fillRef>
        <a:effectRef idx="2">
          <a:schemeClr val="accent5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5237</TotalTime>
  <Words>449</Words>
  <Application>Microsoft Office PowerPoint</Application>
  <PresentationFormat>宽屏</PresentationFormat>
  <Paragraphs>38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HarmonyOS Sans SC Light</vt:lpstr>
      <vt:lpstr>等线</vt:lpstr>
      <vt:lpstr>思源黑体 Normal</vt:lpstr>
      <vt:lpstr>Arial</vt:lpstr>
      <vt:lpstr>Office 主题​​</vt:lpstr>
      <vt:lpstr>2024牛客暑假 多校——第二场</vt:lpstr>
      <vt:lpstr>E- GCD VS XOR</vt:lpstr>
      <vt:lpstr>C-Red Walking on Grid</vt:lpstr>
      <vt:lpstr>H- Instructions Substring</vt:lpstr>
      <vt:lpstr>PowerPoint 演示文稿</vt:lpstr>
      <vt:lpstr>B- MST</vt:lpstr>
      <vt:lpstr>PowerPoint 演示文稿</vt:lpstr>
      <vt:lpstr>I- Red Playing Cards</vt:lpstr>
      <vt:lpstr>PowerPoint 演示文稿</vt:lpstr>
      <vt:lpstr>A- Floor Tiles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G- The Set of Squares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62812</dc:creator>
  <cp:lastModifiedBy>Siyu Deng</cp:lastModifiedBy>
  <cp:revision>282</cp:revision>
  <dcterms:created xsi:type="dcterms:W3CDTF">2022-11-07T03:06:08Z</dcterms:created>
  <dcterms:modified xsi:type="dcterms:W3CDTF">2024-07-20T17:19:53Z</dcterms:modified>
</cp:coreProperties>
</file>
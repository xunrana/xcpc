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9" r:id="rId2"/>
    <p:sldId id="261" r:id="rId3"/>
    <p:sldId id="262" r:id="rId4"/>
    <p:sldId id="269" r:id="rId5"/>
    <p:sldId id="263" r:id="rId6"/>
    <p:sldId id="270" r:id="rId7"/>
    <p:sldId id="264" r:id="rId8"/>
    <p:sldId id="271" r:id="rId9"/>
    <p:sldId id="265" r:id="rId10"/>
    <p:sldId id="272" r:id="rId11"/>
    <p:sldId id="266" r:id="rId12"/>
    <p:sldId id="273" r:id="rId13"/>
    <p:sldId id="267" r:id="rId14"/>
    <p:sldId id="268" r:id="rId15"/>
    <p:sldId id="276" r:id="rId16"/>
    <p:sldId id="27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FF"/>
    <a:srgbClr val="00F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94"/>
  </p:normalViewPr>
  <p:slideViewPr>
    <p:cSldViewPr snapToGrid="0" snapToObjects="1">
      <p:cViewPr varScale="1">
        <p:scale>
          <a:sx n="57" d="100"/>
          <a:sy n="57" d="100"/>
        </p:scale>
        <p:origin x="36" y="76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6BC0E-3D9E-AD47-A71F-225F1F3A3655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56B20-EAE6-AD49-B531-D228C4479B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85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3FE80-F007-0549-B04E-00A7E591F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410" y="2412476"/>
            <a:ext cx="6685280" cy="188186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A7B790-F972-BCB8-6F4A-CA14E6B6B2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58782" y="247539"/>
            <a:ext cx="2363414" cy="7865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E51ED99-06D8-08E8-3419-762B0BE603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0316" y="1694325"/>
            <a:ext cx="5265683" cy="459095"/>
          </a:xfrm>
          <a:prstGeom prst="rect">
            <a:avLst/>
          </a:prstGeom>
        </p:spPr>
      </p:pic>
      <p:pic>
        <p:nvPicPr>
          <p:cNvPr id="11" name="图片 10" descr="卡通画&#10;&#10;描述已自动生成">
            <a:extLst>
              <a:ext uri="{FF2B5EF4-FFF2-40B4-BE49-F238E27FC236}">
                <a16:creationId xmlns:a16="http://schemas.microsoft.com/office/drawing/2014/main" id="{9E35002B-EC7A-FF51-E4D8-590DC6FFCF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512" y="380497"/>
            <a:ext cx="1422619" cy="1710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51AF667-89E6-E14A-9C76-74C28E4E66A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24612" y="6461479"/>
            <a:ext cx="1922736" cy="187515"/>
          </a:xfrm>
          <a:prstGeom prst="rect">
            <a:avLst/>
          </a:prstGeom>
        </p:spPr>
      </p:pic>
      <p:pic>
        <p:nvPicPr>
          <p:cNvPr id="15" name="图片 14" descr="图片包含 图形用户界面&#10;&#10;描述已自动生成">
            <a:extLst>
              <a:ext uri="{FF2B5EF4-FFF2-40B4-BE49-F238E27FC236}">
                <a16:creationId xmlns:a16="http://schemas.microsoft.com/office/drawing/2014/main" id="{AA8CC907-6ED5-A6B4-2DC4-967D4D12705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91690" y="1595438"/>
            <a:ext cx="4921033" cy="406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2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E75CE-1932-724E-80C0-FAEB33FB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26339-EF9D-F445-B1D9-1E67239BB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1A103-E975-7049-A021-7291CD8B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3A1269-8BA8-D746-98F9-CD6254EC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76056-4DA2-2E4F-A681-8AB016B2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标&#10;&#10;描述已自动生成">
            <a:extLst>
              <a:ext uri="{FF2B5EF4-FFF2-40B4-BE49-F238E27FC236}">
                <a16:creationId xmlns:a16="http://schemas.microsoft.com/office/drawing/2014/main" id="{1110583F-9F3B-706C-B3C8-B065A90EFF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391" y="754856"/>
            <a:ext cx="5461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8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0E8CF-8957-BA41-93F5-A7432EB0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0FDA73-E3E1-7D4A-93DD-F795B97AB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05A51-588C-FD41-BE26-11B5455C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9D4BEC-04F2-0545-8673-9CABEEA4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31CA31-82E8-8D47-8E27-FB56D990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0852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3F3F6-92DC-F048-B129-77967C741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F13D74-A128-F246-A2C3-FA3BD5269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EA059B-890E-A145-B88D-F6B9D1240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81BCB7-9F42-BF4C-BABD-5E56F2E8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76A82C-851D-1B4B-A734-FD05DAF3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5B2885-4F24-D94A-8A97-391BC519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960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19E4E-46B5-3B45-8DA4-D1D34B08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9633-FA0D-B44B-A177-A2CBE220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C6536C-6536-6040-9D60-F6D276B70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EBC514-62AE-0447-84DF-AB11DB2C4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AF9E8A-0D96-3249-9355-ABF0602D6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B85C5D-ADC9-0144-BE92-FDC350286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904610-EEE0-3A4C-A141-9856787E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5AE534-B270-E94E-ADC3-71B95CD0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290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6828D-C7FA-6D44-8091-37E86938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66CA88-8A7E-7049-9D5E-9418803F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0A43C4-786D-1041-B770-CB0B2C79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2B44DB-3556-7F47-A1AF-47FCEB74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96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2A8D6D-9947-974A-96CE-1AB8A1A4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1238C9-9B18-C54A-A670-4F1F89DB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D2E43D-2F7B-8442-BC3E-04F2BD55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198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0EE50-AA0C-1C4D-89F2-E5E7222C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EC1718-1B85-8C41-9056-80B26F8F1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91A487-E135-3E40-82B2-2AB952CC0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A29C69-81B1-B540-884E-55FB474B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EFF6D-063D-2246-B9CE-EF8FABB4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C1A372-1EEA-3E43-8EFF-2D7EE85A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903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9EC9B-407C-504F-BF6B-0D891151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4DAF8F-1350-2342-BB8B-7FA3B67E6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F0B8C0-F262-A143-9821-1B46872B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5EFAE1-7081-3C48-9A37-AADA14DC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CD4C2C-E379-B54F-86B5-F4B9DB4C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835633-04C4-EC4A-99B9-C1F5240C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124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0EF46-D5F3-264B-9C50-F96E90B5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1183B1-DAD1-A84F-8827-571999DD1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DE549A-BDCA-3A41-8082-15AA423C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0211C-0490-F047-8270-08CF89DE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D1EB6-34D9-4B4E-882E-5AAF7EE8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50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BD810C-2B70-AF46-960B-1C516278B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08CE3B-62EF-7B41-959B-1FFB10C08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6938F5-095D-2240-9CAF-9DB95F44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882B9-BA91-5A4A-AB28-538B7370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A61C61-3E97-664C-9434-B8DDE841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5126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低可信度描述已自动生成">
            <a:extLst>
              <a:ext uri="{FF2B5EF4-FFF2-40B4-BE49-F238E27FC236}">
                <a16:creationId xmlns:a16="http://schemas.microsoft.com/office/drawing/2014/main" id="{8B360BF0-E85A-3123-FE57-428861D555B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00FFAB"/>
              </a:gs>
              <a:gs pos="100000">
                <a:srgbClr val="00B2FF"/>
              </a:gs>
            </a:gsLst>
            <a:lin ang="3600000" scaled="0"/>
          </a:gradFill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A6F01-3646-134B-9875-7EDD795E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E77E2-C9AC-8547-BD61-8980F6514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A9883-2DF6-1B4E-9229-BA94F1192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DEA61-FD7F-7E42-8996-47F2197A2754}" type="datetimeFigureOut">
              <a:rPr kumimoji="1" lang="zh-CN" altLang="en-US" smtClean="0"/>
              <a:t>2024/7/24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6B74DE-6864-C442-A2D2-9F56667D2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F89B61-871D-C24A-953F-603145740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D15618-98B1-AA4F-90ED-DECD0C962F5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329908" y="451662"/>
            <a:ext cx="1517440" cy="1460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92E9478-BB68-576A-51E5-0F174F577C0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023182" y="6215377"/>
            <a:ext cx="1719992" cy="57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9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C76EB-C3F7-50E0-0A65-1319D8C14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410" y="2242458"/>
            <a:ext cx="6685280" cy="2051882"/>
          </a:xfrm>
        </p:spPr>
        <p:txBody>
          <a:bodyPr>
            <a:normAutofit/>
          </a:bodyPr>
          <a:lstStyle/>
          <a:p>
            <a:r>
              <a:rPr lang="en-US" altLang="zh-CN" sz="6000" dirty="0">
                <a:solidFill>
                  <a:schemeClr val="bg1"/>
                </a:solidFill>
              </a:rPr>
              <a:t>2024</a:t>
            </a:r>
            <a:r>
              <a:rPr lang="zh-CN" altLang="en-US" sz="6000" dirty="0">
                <a:solidFill>
                  <a:schemeClr val="bg1"/>
                </a:solidFill>
              </a:rPr>
              <a:t>牛客</a:t>
            </a:r>
            <a:r>
              <a:rPr lang="zh-CN" altLang="en-US" dirty="0"/>
              <a:t>暑假</a:t>
            </a:r>
            <a:br>
              <a:rPr lang="en-US" altLang="zh-CN" sz="6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</a:br>
            <a:r>
              <a:rPr lang="zh-CN" altLang="en-US" sz="7200" b="1" dirty="0">
                <a:solidFill>
                  <a:schemeClr val="bg1"/>
                </a:solidFill>
              </a:rPr>
              <a:t>多校</a:t>
            </a:r>
            <a:r>
              <a:rPr lang="en-US" altLang="zh-CN" sz="7200" b="1" dirty="0">
                <a:solidFill>
                  <a:schemeClr val="bg1"/>
                </a:solidFill>
              </a:rPr>
              <a:t>——</a:t>
            </a:r>
            <a:r>
              <a:rPr lang="zh-CN" altLang="en-US" sz="7200" b="1" dirty="0">
                <a:solidFill>
                  <a:schemeClr val="bg1"/>
                </a:solidFill>
              </a:rPr>
              <a:t>第三场</a:t>
            </a:r>
            <a:endParaRPr lang="zh-CN" altLang="en-US" dirty="0"/>
          </a:p>
        </p:txBody>
      </p:sp>
      <p:sp>
        <p:nvSpPr>
          <p:cNvPr id="16" name="圆角矩形 32">
            <a:extLst>
              <a:ext uri="{FF2B5EF4-FFF2-40B4-BE49-F238E27FC236}">
                <a16:creationId xmlns:a16="http://schemas.microsoft.com/office/drawing/2014/main" id="{2B62A56C-133E-BF0A-D1EE-C41E6877B0AA}"/>
              </a:ext>
            </a:extLst>
          </p:cNvPr>
          <p:cNvSpPr/>
          <p:nvPr/>
        </p:nvSpPr>
        <p:spPr>
          <a:xfrm>
            <a:off x="1807223" y="4460065"/>
            <a:ext cx="1926578" cy="613460"/>
          </a:xfrm>
          <a:prstGeom prst="roundRect">
            <a:avLst/>
          </a:prstGeom>
          <a:gradFill>
            <a:gsLst>
              <a:gs pos="1000">
                <a:srgbClr val="00FFAB"/>
              </a:gs>
              <a:gs pos="100000">
                <a:srgbClr val="00B2FF"/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dirty="0">
                <a:solidFill>
                  <a:schemeClr val="bg2">
                    <a:lumMod val="25000"/>
                  </a:schemeClr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邓丝雨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C8E3EC-1FC7-6F35-C413-58E88C031614}"/>
              </a:ext>
            </a:extLst>
          </p:cNvPr>
          <p:cNvSpPr txBox="1"/>
          <p:nvPr/>
        </p:nvSpPr>
        <p:spPr>
          <a:xfrm>
            <a:off x="533399" y="5868182"/>
            <a:ext cx="5900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讲题顺序：</a:t>
            </a:r>
            <a:r>
              <a:rPr lang="en-US" altLang="zh-CN" sz="28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LBAJDHK   E</a:t>
            </a:r>
            <a:r>
              <a:rPr lang="zh-CN" altLang="en-US" sz="28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不会</a:t>
            </a:r>
          </a:p>
        </p:txBody>
      </p:sp>
    </p:spTree>
    <p:extLst>
      <p:ext uri="{BB962C8B-B14F-4D97-AF65-F5344CB8AC3E}">
        <p14:creationId xmlns:p14="http://schemas.microsoft.com/office/powerpoint/2010/main" val="1046519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L-Sudoku and Minesweeper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给一个 </a:t>
            </a:r>
            <a:r>
              <a:rPr lang="en-US" altLang="zh-CN" dirty="0"/>
              <a:t>9 × 9</a:t>
            </a:r>
            <a:r>
              <a:rPr lang="zh-CN" altLang="en-US" dirty="0"/>
              <a:t>的填好的数独，要求保留其中一部分数字（至少保留 </a:t>
            </a:r>
            <a:r>
              <a:rPr lang="en-US" altLang="zh-CN" dirty="0"/>
              <a:t>1 </a:t>
            </a:r>
            <a:r>
              <a:rPr lang="zh-CN" altLang="en-US" dirty="0"/>
              <a:t>个），剩下的替换成” 地雷”。</a:t>
            </a:r>
          </a:p>
          <a:p>
            <a:r>
              <a:rPr lang="zh-CN" altLang="en-US" dirty="0"/>
              <a:t>要求满足对于每个数字，与它 </a:t>
            </a:r>
            <a:r>
              <a:rPr lang="en-US" altLang="zh-CN" dirty="0"/>
              <a:t>8 </a:t>
            </a:r>
            <a:r>
              <a:rPr lang="zh-CN" altLang="en-US" dirty="0"/>
              <a:t>连通的格子中是地雷的数量恰好等于自身。</a:t>
            </a:r>
          </a:p>
        </p:txBody>
      </p:sp>
    </p:spTree>
    <p:extLst>
      <p:ext uri="{BB962C8B-B14F-4D97-AF65-F5344CB8AC3E}">
        <p14:creationId xmlns:p14="http://schemas.microsoft.com/office/powerpoint/2010/main" val="165827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B-Crash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 </a:t>
            </a:r>
            <a:r>
              <a:rPr lang="en-US" altLang="zh-CN" dirty="0"/>
              <a:t>n</a:t>
            </a:r>
            <a:r>
              <a:rPr lang="zh-CN" altLang="en-US" dirty="0"/>
              <a:t>类操作，每次可将 </a:t>
            </a:r>
            <a:r>
              <a:rPr lang="en-US" altLang="zh-CN" dirty="0"/>
              <a:t>x</a:t>
            </a:r>
            <a:r>
              <a:rPr lang="zh-CN" altLang="en-US" dirty="0"/>
              <a:t>更新为 </a:t>
            </a:r>
            <a:r>
              <a:rPr lang="en-US" altLang="zh-CN" dirty="0"/>
              <a:t>|x − hi|</a:t>
            </a:r>
          </a:p>
          <a:p>
            <a:r>
              <a:rPr lang="zh-CN" altLang="en-US" dirty="0"/>
              <a:t>求从 </a:t>
            </a:r>
            <a:r>
              <a:rPr lang="en-US" altLang="zh-CN" dirty="0"/>
              <a:t>D</a:t>
            </a:r>
            <a:r>
              <a:rPr lang="zh-CN" altLang="en-US" dirty="0"/>
              <a:t>开始可得到的最小值</a:t>
            </a:r>
          </a:p>
          <a:p>
            <a:r>
              <a:rPr lang="en-US" altLang="zh-CN" dirty="0"/>
              <a:t>n ≤ 100, 1 ≤ hi, D ≤ 10^18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2B1244E-3CBD-07DA-B87A-1012519222FC}"/>
              </a:ext>
            </a:extLst>
          </p:cNvPr>
          <p:cNvCxnSpPr/>
          <p:nvPr/>
        </p:nvCxnSpPr>
        <p:spPr>
          <a:xfrm>
            <a:off x="1262743" y="4332514"/>
            <a:ext cx="6923314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6270195-FBDE-A958-39D0-06114707945D}"/>
              </a:ext>
            </a:extLst>
          </p:cNvPr>
          <p:cNvCxnSpPr/>
          <p:nvPr/>
        </p:nvCxnSpPr>
        <p:spPr>
          <a:xfrm>
            <a:off x="1262743" y="3907971"/>
            <a:ext cx="0" cy="102325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D6BC23A-0EAC-F8F5-0B6A-719E6A11C88C}"/>
              </a:ext>
            </a:extLst>
          </p:cNvPr>
          <p:cNvCxnSpPr/>
          <p:nvPr/>
        </p:nvCxnSpPr>
        <p:spPr>
          <a:xfrm>
            <a:off x="8186057" y="3907971"/>
            <a:ext cx="0" cy="102325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98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72B27-B151-499C-9469-50FB1285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847A12-A3F0-6149-6FCD-160BC7809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B5161A-822B-269F-4203-A9CB467D9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9" y="0"/>
            <a:ext cx="5520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4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A-Bridging the Gap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个人在河的一侧，第 </a:t>
            </a:r>
            <a:r>
              <a:rPr lang="en-US" altLang="zh-CN" dirty="0" err="1"/>
              <a:t>i</a:t>
            </a:r>
            <a:r>
              <a:rPr lang="zh-CN" altLang="en-US" dirty="0"/>
              <a:t>个人有体力值 </a:t>
            </a:r>
            <a:r>
              <a:rPr lang="en-US" altLang="zh-CN" dirty="0"/>
              <a:t>hi</a:t>
            </a:r>
          </a:p>
          <a:p>
            <a:r>
              <a:rPr lang="zh-CN" altLang="en-US" dirty="0"/>
              <a:t>有且仅有一艘能容纳 </a:t>
            </a:r>
            <a:r>
              <a:rPr lang="en-US" altLang="zh-CN" dirty="0"/>
              <a:t>L</a:t>
            </a:r>
            <a:r>
              <a:rPr lang="zh-CN" altLang="en-US" dirty="0"/>
              <a:t>到 </a:t>
            </a:r>
            <a:r>
              <a:rPr lang="en-US" altLang="zh-CN" dirty="0"/>
              <a:t>R</a:t>
            </a:r>
            <a:r>
              <a:rPr lang="zh-CN" altLang="en-US" dirty="0"/>
              <a:t>个人的船</a:t>
            </a:r>
            <a:endParaRPr lang="en-US" altLang="zh-CN" dirty="0"/>
          </a:p>
          <a:p>
            <a:r>
              <a:rPr lang="zh-CN" altLang="en-US" dirty="0"/>
              <a:t>每次运送都要消耗船上的人</a:t>
            </a:r>
            <a:r>
              <a:rPr lang="en-US" altLang="zh-CN" dirty="0"/>
              <a:t>1</a:t>
            </a:r>
            <a:r>
              <a:rPr lang="zh-CN" altLang="en-US" dirty="0"/>
              <a:t>点体力</a:t>
            </a:r>
          </a:p>
          <a:p>
            <a:r>
              <a:rPr lang="zh-CN" altLang="en-US" dirty="0"/>
              <a:t>问是否能将所有人从河的左侧运送到右侧</a:t>
            </a:r>
          </a:p>
          <a:p>
            <a:r>
              <a:rPr lang="en-US" altLang="zh-CN" dirty="0"/>
              <a:t>n ≤ 5 · 10^5</a:t>
            </a:r>
            <a:r>
              <a:rPr lang="zh-CN" altLang="en-US" dirty="0"/>
              <a:t>， </a:t>
            </a:r>
            <a:r>
              <a:rPr lang="en-US" altLang="zh-CN" dirty="0"/>
              <a:t>hi ≤ 5 ·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33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6F1B9-D7FA-D279-AFA1-C8CCBF82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4823F-A9B2-BE1D-06C3-4C66D9CF1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3CC58D-3A5F-7354-FD93-A8DB3D8D59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4"/>
          <a:stretch/>
        </p:blipFill>
        <p:spPr>
          <a:xfrm>
            <a:off x="992459" y="0"/>
            <a:ext cx="5103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3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J-Rigged Games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两队打比赛，大分 </a:t>
            </a:r>
            <a:r>
              <a:rPr lang="en-US" altLang="zh-CN" dirty="0"/>
              <a:t>Bo2b − 1</a:t>
            </a:r>
            <a:r>
              <a:rPr lang="zh-CN" altLang="en-US" dirty="0"/>
              <a:t>，小分 </a:t>
            </a:r>
            <a:r>
              <a:rPr lang="en-US" altLang="zh-CN" dirty="0"/>
              <a:t>Bo2a − 1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给定的长度为 </a:t>
            </a:r>
            <a:r>
              <a:rPr lang="en-US" altLang="zh-CN" dirty="0"/>
              <a:t>n</a:t>
            </a:r>
            <a:r>
              <a:rPr lang="zh-CN" altLang="en-US" dirty="0"/>
              <a:t>的串，两队比赛的每个小分结果是这个串的循环重复。</a:t>
            </a:r>
          </a:p>
          <a:p>
            <a:r>
              <a:rPr lang="zh-CN" altLang="en-US" dirty="0"/>
              <a:t>问从该串的每个位置开始，最终谁会赢得整个比赛</a:t>
            </a:r>
          </a:p>
        </p:txBody>
      </p:sp>
    </p:spTree>
    <p:extLst>
      <p:ext uri="{BB962C8B-B14F-4D97-AF65-F5344CB8AC3E}">
        <p14:creationId xmlns:p14="http://schemas.microsoft.com/office/powerpoint/2010/main" val="277918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524E8-A1FC-6A36-3B6C-727FBD05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FF1692-7599-5243-F587-2DF142385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AD85AD-9B6E-5F30-6D7F-17A9E5CF8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52" y="-16727"/>
            <a:ext cx="5213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6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D-Dominoes!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有 </a:t>
            </a:r>
            <a:r>
              <a:rPr lang="en-US" altLang="zh-CN" dirty="0"/>
              <a:t>n</a:t>
            </a:r>
            <a:r>
              <a:rPr lang="zh-CN" altLang="en-US" dirty="0"/>
              <a:t>张骨牌，每个骨牌上写有 </a:t>
            </a:r>
            <a:r>
              <a:rPr lang="en-US" altLang="zh-CN" dirty="0"/>
              <a:t>2 </a:t>
            </a:r>
            <a:r>
              <a:rPr lang="zh-CN" altLang="en-US" dirty="0"/>
              <a:t>个数字 </a:t>
            </a:r>
            <a:r>
              <a:rPr lang="en-US" altLang="zh-CN" dirty="0"/>
              <a:t>xi, </a:t>
            </a:r>
            <a:r>
              <a:rPr lang="en-US" altLang="zh-CN" dirty="0" err="1"/>
              <a:t>yi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要求将 </a:t>
            </a:r>
            <a:r>
              <a:rPr lang="en-US" altLang="zh-CN" dirty="0"/>
              <a:t>n</a:t>
            </a:r>
            <a:r>
              <a:rPr lang="zh-CN" altLang="en-US" dirty="0"/>
              <a:t>张骨牌横着摆成一排，一共 </a:t>
            </a:r>
            <a:r>
              <a:rPr lang="en-US" altLang="zh-CN" dirty="0"/>
              <a:t>2n</a:t>
            </a:r>
            <a:r>
              <a:rPr lang="zh-CN" altLang="en-US" dirty="0"/>
              <a:t>个数字，保证对于相邻的不属于</a:t>
            </a:r>
          </a:p>
          <a:p>
            <a:r>
              <a:rPr lang="zh-CN" altLang="en-US" dirty="0"/>
              <a:t>同一骨牌的数字互不相同。</a:t>
            </a:r>
          </a:p>
        </p:txBody>
      </p:sp>
    </p:spTree>
    <p:extLst>
      <p:ext uri="{BB962C8B-B14F-4D97-AF65-F5344CB8AC3E}">
        <p14:creationId xmlns:p14="http://schemas.microsoft.com/office/powerpoint/2010/main" val="2767656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D47AF-C704-B633-8B48-C19AC272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40D864-4AB3-9430-03D7-A485CFA3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48A70D-A0D8-1FE7-981F-3B0BDCA06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288" y="0"/>
            <a:ext cx="5388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35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H-	Rectangle Intersection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 </a:t>
            </a:r>
            <a:r>
              <a:rPr lang="en-US" altLang="zh-CN" dirty="0"/>
              <a:t>k </a:t>
            </a:r>
            <a:r>
              <a:rPr lang="zh-CN" altLang="en-US" dirty="0"/>
              <a:t>个在 </a:t>
            </a:r>
            <a:r>
              <a:rPr lang="en-US" altLang="zh-CN" dirty="0"/>
              <a:t>n × m </a:t>
            </a:r>
            <a:r>
              <a:rPr lang="zh-CN" altLang="en-US" dirty="0"/>
              <a:t>方格表上的矩形，求所有至少一个矩形的组合的非空交的最小面积大小。</a:t>
            </a:r>
          </a:p>
          <a:p>
            <a:r>
              <a:rPr lang="en-US" altLang="zh-CN" dirty="0"/>
              <a:t>1 ≤ k ≤ 1000000, 1 ≤ n, m ≤ 2000.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A6C4FE-51ED-B340-7D3D-4001A6908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106860"/>
              </p:ext>
            </p:extLst>
          </p:nvPr>
        </p:nvGraphicFramePr>
        <p:xfrm>
          <a:off x="7391399" y="3258611"/>
          <a:ext cx="3450776" cy="323426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31347">
                  <a:extLst>
                    <a:ext uri="{9D8B030D-6E8A-4147-A177-3AD203B41FA5}">
                      <a16:colId xmlns:a16="http://schemas.microsoft.com/office/drawing/2014/main" val="977717422"/>
                    </a:ext>
                  </a:extLst>
                </a:gridCol>
                <a:gridCol w="431347">
                  <a:extLst>
                    <a:ext uri="{9D8B030D-6E8A-4147-A177-3AD203B41FA5}">
                      <a16:colId xmlns:a16="http://schemas.microsoft.com/office/drawing/2014/main" val="3230577697"/>
                    </a:ext>
                  </a:extLst>
                </a:gridCol>
                <a:gridCol w="431347">
                  <a:extLst>
                    <a:ext uri="{9D8B030D-6E8A-4147-A177-3AD203B41FA5}">
                      <a16:colId xmlns:a16="http://schemas.microsoft.com/office/drawing/2014/main" val="1193653551"/>
                    </a:ext>
                  </a:extLst>
                </a:gridCol>
                <a:gridCol w="431347">
                  <a:extLst>
                    <a:ext uri="{9D8B030D-6E8A-4147-A177-3AD203B41FA5}">
                      <a16:colId xmlns:a16="http://schemas.microsoft.com/office/drawing/2014/main" val="4070457160"/>
                    </a:ext>
                  </a:extLst>
                </a:gridCol>
                <a:gridCol w="431347">
                  <a:extLst>
                    <a:ext uri="{9D8B030D-6E8A-4147-A177-3AD203B41FA5}">
                      <a16:colId xmlns:a16="http://schemas.microsoft.com/office/drawing/2014/main" val="3059742693"/>
                    </a:ext>
                  </a:extLst>
                </a:gridCol>
                <a:gridCol w="431347">
                  <a:extLst>
                    <a:ext uri="{9D8B030D-6E8A-4147-A177-3AD203B41FA5}">
                      <a16:colId xmlns:a16="http://schemas.microsoft.com/office/drawing/2014/main" val="1661067204"/>
                    </a:ext>
                  </a:extLst>
                </a:gridCol>
                <a:gridCol w="431347">
                  <a:extLst>
                    <a:ext uri="{9D8B030D-6E8A-4147-A177-3AD203B41FA5}">
                      <a16:colId xmlns:a16="http://schemas.microsoft.com/office/drawing/2014/main" val="4194090883"/>
                    </a:ext>
                  </a:extLst>
                </a:gridCol>
                <a:gridCol w="431347">
                  <a:extLst>
                    <a:ext uri="{9D8B030D-6E8A-4147-A177-3AD203B41FA5}">
                      <a16:colId xmlns:a16="http://schemas.microsoft.com/office/drawing/2014/main" val="3906164976"/>
                    </a:ext>
                  </a:extLst>
                </a:gridCol>
              </a:tblGrid>
              <a:tr h="40428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4820"/>
                  </a:ext>
                </a:extLst>
              </a:tr>
              <a:tr h="404283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687918"/>
                  </a:ext>
                </a:extLst>
              </a:tr>
              <a:tr h="404283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872126"/>
                  </a:ext>
                </a:extLst>
              </a:tr>
              <a:tr h="404283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358315"/>
                  </a:ext>
                </a:extLst>
              </a:tr>
              <a:tr h="404283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096103"/>
                  </a:ext>
                </a:extLst>
              </a:tr>
              <a:tr h="404283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555582"/>
                  </a:ext>
                </a:extLst>
              </a:tr>
              <a:tr h="404283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727774"/>
                  </a:ext>
                </a:extLst>
              </a:tr>
              <a:tr h="404283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777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8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06676-71FD-A037-866F-7A065F39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4F27C-65BD-EB0D-09F0-F7CD0212B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D7233E-6B10-B0CF-0B61-3839BE1C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5207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09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	Slay the Spire: Game 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给定一个 </a:t>
            </a:r>
            <a:r>
              <a:rPr lang="en-US" altLang="zh-CN" dirty="0"/>
              <a:t>n</a:t>
            </a:r>
            <a:r>
              <a:rPr lang="zh-CN" altLang="en-US" dirty="0"/>
              <a:t>个点 </a:t>
            </a:r>
            <a:r>
              <a:rPr lang="en-US" altLang="zh-CN" dirty="0"/>
              <a:t>m</a:t>
            </a:r>
            <a:r>
              <a:rPr lang="zh-CN" altLang="en-US" dirty="0"/>
              <a:t>条边的有向无环图 </a:t>
            </a:r>
            <a:r>
              <a:rPr lang="en-US" altLang="zh-CN" dirty="0"/>
              <a:t>G = (V, E)</a:t>
            </a:r>
            <a:r>
              <a:rPr lang="zh-CN" altLang="en-US" dirty="0"/>
              <a:t>以及一个整数 </a:t>
            </a:r>
            <a:r>
              <a:rPr lang="en-US" altLang="zh-CN" dirty="0"/>
              <a:t>k</a:t>
            </a:r>
            <a:r>
              <a:rPr lang="zh-CN" altLang="en-US" dirty="0"/>
              <a:t>，其中所有无入度的点为源点，所有无出度的点为汇点。</a:t>
            </a:r>
          </a:p>
          <a:p>
            <a:r>
              <a:rPr lang="zh-CN" altLang="en-US" dirty="0"/>
              <a:t>要求选择最少数量的非源点和汇点的顶点放置精英怪，使得从任何一个源点出发到任何一个汇点都要经过至少 </a:t>
            </a:r>
            <a:r>
              <a:rPr lang="en-US" altLang="zh-CN" dirty="0"/>
              <a:t>k</a:t>
            </a:r>
            <a:r>
              <a:rPr lang="zh-CN" altLang="en-US" dirty="0"/>
              <a:t>个精英怪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2 ≤ n ≤ 1000, 1 ≤ m ≤ 5000, 1 ≤ k ≤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68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B2240-86ED-679A-ECA0-E0E636AC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57546-629B-AC87-8072-E4E018EEA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9DAB83E-2786-3D22-9D68-9A414CE83E19}"/>
              </a:ext>
            </a:extLst>
          </p:cNvPr>
          <p:cNvSpPr/>
          <p:nvPr/>
        </p:nvSpPr>
        <p:spPr>
          <a:xfrm>
            <a:off x="1449659" y="2044661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95651C9-75C7-6EB4-42F7-DC51CB989161}"/>
              </a:ext>
            </a:extLst>
          </p:cNvPr>
          <p:cNvSpPr/>
          <p:nvPr/>
        </p:nvSpPr>
        <p:spPr>
          <a:xfrm>
            <a:off x="2516459" y="2044661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1B42BE3-605F-3052-A2E4-501A7BB2A61C}"/>
              </a:ext>
            </a:extLst>
          </p:cNvPr>
          <p:cNvSpPr/>
          <p:nvPr/>
        </p:nvSpPr>
        <p:spPr>
          <a:xfrm>
            <a:off x="7054076" y="1989914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806A9B2-BFEF-718E-835D-367AD7F3FEA7}"/>
              </a:ext>
            </a:extLst>
          </p:cNvPr>
          <p:cNvSpPr/>
          <p:nvPr/>
        </p:nvSpPr>
        <p:spPr>
          <a:xfrm>
            <a:off x="6009578" y="2006377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770663C-F2CD-0C5E-6015-9BD2C06B4F33}"/>
              </a:ext>
            </a:extLst>
          </p:cNvPr>
          <p:cNvSpPr/>
          <p:nvPr/>
        </p:nvSpPr>
        <p:spPr>
          <a:xfrm>
            <a:off x="4832195" y="2031091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3AFF172-CD74-A864-CA72-460147952D64}"/>
              </a:ext>
            </a:extLst>
          </p:cNvPr>
          <p:cNvSpPr/>
          <p:nvPr/>
        </p:nvSpPr>
        <p:spPr>
          <a:xfrm>
            <a:off x="3639944" y="2055805"/>
            <a:ext cx="579863" cy="5638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9BD1B15-B2A9-8D93-C8ED-8AFB193E59A2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2029522" y="2351320"/>
            <a:ext cx="4869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61C44F0-A71B-3795-17C6-2F3A9EFBA1D9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 flipV="1">
            <a:off x="3096322" y="2337750"/>
            <a:ext cx="543622" cy="135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8BBDCE4-B652-7C18-9664-5CE17F7B9A49}"/>
              </a:ext>
            </a:extLst>
          </p:cNvPr>
          <p:cNvCxnSpPr>
            <a:cxnSpLocks/>
            <a:stCxn id="10" idx="6"/>
            <a:endCxn id="8" idx="2"/>
          </p:cNvCxnSpPr>
          <p:nvPr/>
        </p:nvCxnSpPr>
        <p:spPr>
          <a:xfrm>
            <a:off x="4219807" y="2337750"/>
            <a:ext cx="6123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C7082BD-C92F-E9A1-CD79-C9261376D026}"/>
              </a:ext>
            </a:extLst>
          </p:cNvPr>
          <p:cNvCxnSpPr>
            <a:cxnSpLocks/>
          </p:cNvCxnSpPr>
          <p:nvPr/>
        </p:nvCxnSpPr>
        <p:spPr>
          <a:xfrm flipV="1">
            <a:off x="5379534" y="2313036"/>
            <a:ext cx="597520" cy="24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39981EB-F77E-5D48-E6F6-03EABD582FD0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 flipV="1">
            <a:off x="6589441" y="2296573"/>
            <a:ext cx="464635" cy="164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9BA54371-5F29-3A87-11E1-6DCA2728FD78}"/>
              </a:ext>
            </a:extLst>
          </p:cNvPr>
          <p:cNvSpPr/>
          <p:nvPr/>
        </p:nvSpPr>
        <p:spPr>
          <a:xfrm>
            <a:off x="2516459" y="3067595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C7208AA6-4702-2193-195E-55287268B575}"/>
              </a:ext>
            </a:extLst>
          </p:cNvPr>
          <p:cNvSpPr/>
          <p:nvPr/>
        </p:nvSpPr>
        <p:spPr>
          <a:xfrm>
            <a:off x="6009578" y="3029311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B1A4B47-8037-59D6-3766-7D11608EC6FF}"/>
              </a:ext>
            </a:extLst>
          </p:cNvPr>
          <p:cNvSpPr/>
          <p:nvPr/>
        </p:nvSpPr>
        <p:spPr>
          <a:xfrm>
            <a:off x="4832195" y="3054025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A56A86BB-E794-5450-77E9-95EECBC53E99}"/>
              </a:ext>
            </a:extLst>
          </p:cNvPr>
          <p:cNvSpPr/>
          <p:nvPr/>
        </p:nvSpPr>
        <p:spPr>
          <a:xfrm>
            <a:off x="3639944" y="3078739"/>
            <a:ext cx="579863" cy="5638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4A20ED0-5B0C-C66B-C0A7-6B1CEB6A7330}"/>
              </a:ext>
            </a:extLst>
          </p:cNvPr>
          <p:cNvCxnSpPr>
            <a:cxnSpLocks/>
            <a:stCxn id="38" idx="6"/>
            <a:endCxn id="42" idx="2"/>
          </p:cNvCxnSpPr>
          <p:nvPr/>
        </p:nvCxnSpPr>
        <p:spPr>
          <a:xfrm flipV="1">
            <a:off x="3096322" y="3360684"/>
            <a:ext cx="543622" cy="135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842F353-CC48-E276-D111-3491F3B297A4}"/>
              </a:ext>
            </a:extLst>
          </p:cNvPr>
          <p:cNvCxnSpPr>
            <a:cxnSpLocks/>
            <a:stCxn id="42" idx="6"/>
            <a:endCxn id="41" idx="2"/>
          </p:cNvCxnSpPr>
          <p:nvPr/>
        </p:nvCxnSpPr>
        <p:spPr>
          <a:xfrm>
            <a:off x="4219807" y="3360684"/>
            <a:ext cx="6123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761C427-D654-44A4-F57A-875FD48D9523}"/>
              </a:ext>
            </a:extLst>
          </p:cNvPr>
          <p:cNvCxnSpPr>
            <a:cxnSpLocks/>
          </p:cNvCxnSpPr>
          <p:nvPr/>
        </p:nvCxnSpPr>
        <p:spPr>
          <a:xfrm flipV="1">
            <a:off x="5379534" y="3335970"/>
            <a:ext cx="597520" cy="24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3ED4542E-5AAA-FC04-BD34-C0FC93EBEFDA}"/>
              </a:ext>
            </a:extLst>
          </p:cNvPr>
          <p:cNvSpPr/>
          <p:nvPr/>
        </p:nvSpPr>
        <p:spPr>
          <a:xfrm>
            <a:off x="2483935" y="4125570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2DAB6006-CD9B-65B3-3E60-B4DA7C88136C}"/>
              </a:ext>
            </a:extLst>
          </p:cNvPr>
          <p:cNvSpPr/>
          <p:nvPr/>
        </p:nvSpPr>
        <p:spPr>
          <a:xfrm>
            <a:off x="5977054" y="4087286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B6D4A0C4-46E4-6F37-5FE1-C5F8A14FB9E0}"/>
              </a:ext>
            </a:extLst>
          </p:cNvPr>
          <p:cNvSpPr/>
          <p:nvPr/>
        </p:nvSpPr>
        <p:spPr>
          <a:xfrm>
            <a:off x="4799671" y="4112000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6987963C-B022-948A-04E6-076A9C80246F}"/>
              </a:ext>
            </a:extLst>
          </p:cNvPr>
          <p:cNvSpPr/>
          <p:nvPr/>
        </p:nvSpPr>
        <p:spPr>
          <a:xfrm>
            <a:off x="3607420" y="4136714"/>
            <a:ext cx="579863" cy="5638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6049DEA-79A9-95F3-52AE-5B5B2DF46F00}"/>
              </a:ext>
            </a:extLst>
          </p:cNvPr>
          <p:cNvCxnSpPr>
            <a:cxnSpLocks/>
            <a:stCxn id="47" idx="6"/>
            <a:endCxn id="50" idx="2"/>
          </p:cNvCxnSpPr>
          <p:nvPr/>
        </p:nvCxnSpPr>
        <p:spPr>
          <a:xfrm flipV="1">
            <a:off x="3063798" y="4418659"/>
            <a:ext cx="543622" cy="135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349A78A-6933-BBAE-8A78-B4298531B3B3}"/>
              </a:ext>
            </a:extLst>
          </p:cNvPr>
          <p:cNvCxnSpPr>
            <a:cxnSpLocks/>
            <a:stCxn id="50" idx="6"/>
            <a:endCxn id="49" idx="2"/>
          </p:cNvCxnSpPr>
          <p:nvPr/>
        </p:nvCxnSpPr>
        <p:spPr>
          <a:xfrm>
            <a:off x="4187283" y="4418659"/>
            <a:ext cx="6123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4F69933-052D-5EEE-D415-AB9B75FB38FE}"/>
              </a:ext>
            </a:extLst>
          </p:cNvPr>
          <p:cNvCxnSpPr>
            <a:cxnSpLocks/>
          </p:cNvCxnSpPr>
          <p:nvPr/>
        </p:nvCxnSpPr>
        <p:spPr>
          <a:xfrm flipV="1">
            <a:off x="5347010" y="4393945"/>
            <a:ext cx="597520" cy="24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8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0" grpId="0" animBg="1"/>
      <p:bldP spid="41" grpId="0" animBg="1"/>
      <p:bldP spid="42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B2240-86ED-679A-ECA0-E0E636AC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9DAB83E-2786-3D22-9D68-9A414CE83E19}"/>
              </a:ext>
            </a:extLst>
          </p:cNvPr>
          <p:cNvSpPr/>
          <p:nvPr/>
        </p:nvSpPr>
        <p:spPr>
          <a:xfrm>
            <a:off x="2029522" y="795425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95651C9-75C7-6EB4-42F7-DC51CB989161}"/>
              </a:ext>
            </a:extLst>
          </p:cNvPr>
          <p:cNvSpPr/>
          <p:nvPr/>
        </p:nvSpPr>
        <p:spPr>
          <a:xfrm>
            <a:off x="3096322" y="795425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1B42BE3-605F-3052-A2E4-501A7BB2A61C}"/>
              </a:ext>
            </a:extLst>
          </p:cNvPr>
          <p:cNvSpPr/>
          <p:nvPr/>
        </p:nvSpPr>
        <p:spPr>
          <a:xfrm>
            <a:off x="6096000" y="869559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3AFF172-CD74-A864-CA72-460147952D64}"/>
              </a:ext>
            </a:extLst>
          </p:cNvPr>
          <p:cNvSpPr/>
          <p:nvPr/>
        </p:nvSpPr>
        <p:spPr>
          <a:xfrm>
            <a:off x="4594657" y="540300"/>
            <a:ext cx="579863" cy="5638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9BD1B15-B2A9-8D93-C8ED-8AFB193E59A2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2609385" y="1102084"/>
            <a:ext cx="4869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61C44F0-A71B-3795-17C6-2F3A9EFBA1D9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 flipV="1">
            <a:off x="3676185" y="822245"/>
            <a:ext cx="918472" cy="279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8BBDCE4-B652-7C18-9664-5CE17F7B9A49}"/>
              </a:ext>
            </a:extLst>
          </p:cNvPr>
          <p:cNvCxnSpPr>
            <a:cxnSpLocks/>
            <a:stCxn id="5" idx="5"/>
            <a:endCxn id="9" idx="1"/>
          </p:cNvCxnSpPr>
          <p:nvPr/>
        </p:nvCxnSpPr>
        <p:spPr>
          <a:xfrm>
            <a:off x="3591266" y="1318925"/>
            <a:ext cx="1088310" cy="2537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C7082BD-C92F-E9A1-CD79-C9261376D026}"/>
              </a:ext>
            </a:extLst>
          </p:cNvPr>
          <p:cNvCxnSpPr>
            <a:cxnSpLocks/>
            <a:stCxn id="9" idx="7"/>
            <a:endCxn id="6" idx="2"/>
          </p:cNvCxnSpPr>
          <p:nvPr/>
        </p:nvCxnSpPr>
        <p:spPr>
          <a:xfrm flipV="1">
            <a:off x="5089601" y="1176218"/>
            <a:ext cx="1006399" cy="396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770663C-F2CD-0C5E-6015-9BD2C06B4F33}"/>
              </a:ext>
            </a:extLst>
          </p:cNvPr>
          <p:cNvSpPr/>
          <p:nvPr/>
        </p:nvSpPr>
        <p:spPr>
          <a:xfrm>
            <a:off x="4594657" y="1482877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795A834-2EA9-514B-9247-5C689E1D7D2E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>
            <a:off x="5174520" y="822245"/>
            <a:ext cx="921480" cy="3539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B3124DC0-6DB2-B59D-BCB7-4316BF1603E2}"/>
              </a:ext>
            </a:extLst>
          </p:cNvPr>
          <p:cNvSpPr/>
          <p:nvPr/>
        </p:nvSpPr>
        <p:spPr>
          <a:xfrm>
            <a:off x="3181241" y="2865834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E9B4657E-1448-225A-2C17-62CDDDDDF401}"/>
              </a:ext>
            </a:extLst>
          </p:cNvPr>
          <p:cNvSpPr/>
          <p:nvPr/>
        </p:nvSpPr>
        <p:spPr>
          <a:xfrm>
            <a:off x="4679576" y="2610709"/>
            <a:ext cx="579863" cy="5638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A61A2A4A-F49C-FC21-4F2C-BC2BAD4AA775}"/>
              </a:ext>
            </a:extLst>
          </p:cNvPr>
          <p:cNvCxnSpPr>
            <a:cxnSpLocks/>
            <a:stCxn id="46" idx="6"/>
            <a:endCxn id="54" idx="2"/>
          </p:cNvCxnSpPr>
          <p:nvPr/>
        </p:nvCxnSpPr>
        <p:spPr>
          <a:xfrm flipV="1">
            <a:off x="3761104" y="2892654"/>
            <a:ext cx="918472" cy="279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5D07BBC-9920-7F31-F9E3-C26B75B4541F}"/>
              </a:ext>
            </a:extLst>
          </p:cNvPr>
          <p:cNvCxnSpPr>
            <a:cxnSpLocks/>
            <a:stCxn id="46" idx="5"/>
            <a:endCxn id="57" idx="1"/>
          </p:cNvCxnSpPr>
          <p:nvPr/>
        </p:nvCxnSpPr>
        <p:spPr>
          <a:xfrm>
            <a:off x="3676185" y="3389334"/>
            <a:ext cx="1088310" cy="2537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6027D9FC-5312-30EF-8FFD-3D359E309C0D}"/>
              </a:ext>
            </a:extLst>
          </p:cNvPr>
          <p:cNvSpPr/>
          <p:nvPr/>
        </p:nvSpPr>
        <p:spPr>
          <a:xfrm>
            <a:off x="4679576" y="3553286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2C5F8F24-3E46-AF0D-5946-02EFAFDF8233}"/>
              </a:ext>
            </a:extLst>
          </p:cNvPr>
          <p:cNvSpPr/>
          <p:nvPr/>
        </p:nvSpPr>
        <p:spPr>
          <a:xfrm>
            <a:off x="3266160" y="4936243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DAB7A1DB-EE51-E03B-4013-0FA2224287DC}"/>
              </a:ext>
            </a:extLst>
          </p:cNvPr>
          <p:cNvSpPr/>
          <p:nvPr/>
        </p:nvSpPr>
        <p:spPr>
          <a:xfrm>
            <a:off x="4764495" y="4681118"/>
            <a:ext cx="579863" cy="5638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75DD246-186B-D944-5976-653AEC4728FD}"/>
              </a:ext>
            </a:extLst>
          </p:cNvPr>
          <p:cNvCxnSpPr>
            <a:cxnSpLocks/>
            <a:stCxn id="58" idx="6"/>
            <a:endCxn id="59" idx="2"/>
          </p:cNvCxnSpPr>
          <p:nvPr/>
        </p:nvCxnSpPr>
        <p:spPr>
          <a:xfrm flipV="1">
            <a:off x="3846023" y="4963063"/>
            <a:ext cx="918472" cy="279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FB04D4F-A67D-A0B2-851F-610523639849}"/>
              </a:ext>
            </a:extLst>
          </p:cNvPr>
          <p:cNvCxnSpPr>
            <a:cxnSpLocks/>
            <a:stCxn id="58" idx="5"/>
            <a:endCxn id="62" idx="1"/>
          </p:cNvCxnSpPr>
          <p:nvPr/>
        </p:nvCxnSpPr>
        <p:spPr>
          <a:xfrm>
            <a:off x="3761104" y="5459743"/>
            <a:ext cx="1088310" cy="2537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258117D2-A916-3B8A-ED20-07C77F034778}"/>
              </a:ext>
            </a:extLst>
          </p:cNvPr>
          <p:cNvSpPr/>
          <p:nvPr/>
        </p:nvSpPr>
        <p:spPr>
          <a:xfrm>
            <a:off x="4764495" y="5623695"/>
            <a:ext cx="579863" cy="613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5254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FEF07-3634-E30C-1ED1-0B5F30E38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EE7892-89D0-8D93-846D-48C0C10D1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F8BF2C-60E3-488B-88C5-53A93EBEB8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3" b="6573"/>
          <a:stretch/>
        </p:blipFill>
        <p:spPr>
          <a:xfrm>
            <a:off x="752590" y="256478"/>
            <a:ext cx="7309742" cy="649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27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3">
          <a:schemeClr val="accent5"/>
        </a:lnRef>
        <a:fillRef idx="0">
          <a:schemeClr val="accent5"/>
        </a:fillRef>
        <a:effectRef idx="2">
          <a:schemeClr val="accent5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5903</TotalTime>
  <Words>476</Words>
  <Application>Microsoft Office PowerPoint</Application>
  <PresentationFormat>宽屏</PresentationFormat>
  <Paragraphs>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HarmonyOS Sans SC Light</vt:lpstr>
      <vt:lpstr>等线</vt:lpstr>
      <vt:lpstr>思源黑体 Normal</vt:lpstr>
      <vt:lpstr>Arial</vt:lpstr>
      <vt:lpstr>Office 主题​​</vt:lpstr>
      <vt:lpstr>2024牛客暑假 多校——第三场</vt:lpstr>
      <vt:lpstr>L-Sudoku and Minesweeper</vt:lpstr>
      <vt:lpstr>B-Crash Test</vt:lpstr>
      <vt:lpstr>PowerPoint 演示文稿</vt:lpstr>
      <vt:lpstr>A-Bridging the Gap 2</vt:lpstr>
      <vt:lpstr>PowerPoint 演示文稿</vt:lpstr>
      <vt:lpstr>J-Rigged Games</vt:lpstr>
      <vt:lpstr>PowerPoint 演示文稿</vt:lpstr>
      <vt:lpstr>D-Dominoes!</vt:lpstr>
      <vt:lpstr>PowerPoint 演示文稿</vt:lpstr>
      <vt:lpstr>H- Rectangle Intersection</vt:lpstr>
      <vt:lpstr>PowerPoint 演示文稿</vt:lpstr>
      <vt:lpstr>K- Slay the Spire: Game Design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62812</dc:creator>
  <cp:lastModifiedBy>Siyu Deng</cp:lastModifiedBy>
  <cp:revision>286</cp:revision>
  <dcterms:created xsi:type="dcterms:W3CDTF">2022-11-07T03:06:08Z</dcterms:created>
  <dcterms:modified xsi:type="dcterms:W3CDTF">2024-07-24T10:22:32Z</dcterms:modified>
</cp:coreProperties>
</file>